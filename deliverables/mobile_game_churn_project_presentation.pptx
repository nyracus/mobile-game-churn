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e92f97f3d54d73" /><Relationship Type="http://schemas.openxmlformats.org/officeDocument/2006/relationships/extended-properties" Target="/docProps/app.xml" Id="R3dc7e5b4fa9a468e" /><Relationship Type="http://schemas.openxmlformats.org/officeDocument/2006/relationships/officeDocument" Target="/ppt/presentation.xml" Id="Rb84c191588134c0e" /></Relationships>
</file>

<file path=ppt/presentation.xml><?xml version="1.0" encoding="utf-8"?>
<p:presentation xmlns:p="http://schemas.openxmlformats.org/presentationml/2006/main">
  <p:sldMasterIdLst>
    <p:sldMasterId xmlns:r="http://schemas.openxmlformats.org/officeDocument/2006/relationships" id="2147483648" r:id="Rc048f4cb95c94df4"/>
  </p:sldMasterIdLst>
  <p:notesMasterIdLst>
    <p:notesMasterId xmlns:r="http://schemas.openxmlformats.org/officeDocument/2006/relationships" r:id="R7aca35d0f8c94151"/>
  </p:notesMasterIdLst>
  <p:sldIdLst>
    <p:sldId xmlns:r="http://schemas.openxmlformats.org/officeDocument/2006/relationships" id="256" r:id="R064a35dcd82e4538"/>
    <p:sldId xmlns:r="http://schemas.openxmlformats.org/officeDocument/2006/relationships" id="257" r:id="Rc07716cb173d4c19"/>
    <p:sldId xmlns:r="http://schemas.openxmlformats.org/officeDocument/2006/relationships" id="258" r:id="R1f00f8fd850b4e4d"/>
    <p:sldId xmlns:r="http://schemas.openxmlformats.org/officeDocument/2006/relationships" id="259" r:id="R96bb27c7471b4245"/>
    <p:sldId xmlns:r="http://schemas.openxmlformats.org/officeDocument/2006/relationships" id="260" r:id="R5ebd95947fd74974"/>
    <p:sldId xmlns:r="http://schemas.openxmlformats.org/officeDocument/2006/relationships" id="261" r:id="R1042200952a3415a"/>
    <p:sldId xmlns:r="http://schemas.openxmlformats.org/officeDocument/2006/relationships" id="262" r:id="Read46cedd4224ac1"/>
    <p:sldId xmlns:r="http://schemas.openxmlformats.org/officeDocument/2006/relationships" id="263" r:id="R9abf3e02de1346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25f896bc03437d" /><Relationship Type="http://schemas.openxmlformats.org/officeDocument/2006/relationships/slideMaster" Target="/ppt/slideMasters/slideMaster1.xml" Id="Rc048f4cb95c94df4" /><Relationship Type="http://schemas.openxmlformats.org/officeDocument/2006/relationships/notesMaster" Target="/ppt/notesMasters/notesMaster1.xml" Id="R7aca35d0f8c94151" /><Relationship Type="http://schemas.openxmlformats.org/officeDocument/2006/relationships/presProps" Target="/ppt/presProps.xml" Id="Rf5c469532dde44e9" /><Relationship Type="http://schemas.openxmlformats.org/officeDocument/2006/relationships/tableStyles" Target="/ppt/tableStyles.xml" Id="R68997a3d27a54355" /><Relationship Type="http://schemas.openxmlformats.org/officeDocument/2006/relationships/slide" Target="/ppt/slides/slide1.xml" Id="R064a35dcd82e4538" /><Relationship Type="http://schemas.openxmlformats.org/officeDocument/2006/relationships/slide" Target="/ppt/slides/slide2.xml" Id="Rc07716cb173d4c19" /><Relationship Type="http://schemas.openxmlformats.org/officeDocument/2006/relationships/slide" Target="/ppt/slides/slide3.xml" Id="R1f00f8fd850b4e4d" /><Relationship Type="http://schemas.openxmlformats.org/officeDocument/2006/relationships/slide" Target="/ppt/slides/slide4.xml" Id="R96bb27c7471b4245" /><Relationship Type="http://schemas.openxmlformats.org/officeDocument/2006/relationships/slide" Target="/ppt/slides/slide5.xml" Id="R5ebd95947fd74974" /><Relationship Type="http://schemas.openxmlformats.org/officeDocument/2006/relationships/slide" Target="/ppt/slides/slide6.xml" Id="R1042200952a3415a" /><Relationship Type="http://schemas.openxmlformats.org/officeDocument/2006/relationships/slide" Target="/ppt/slides/slide7.xml" Id="Read46cedd4224ac1" /><Relationship Type="http://schemas.openxmlformats.org/officeDocument/2006/relationships/slide" Target="/ppt/slides/slide8.xml" Id="R9abf3e02de1346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4f814f95954b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588065d7fc44aa" /><Relationship Type="http://schemas.openxmlformats.org/officeDocument/2006/relationships/notesMaster" Target="/ppt/notesMasters/notesMaster1.xml" Id="R8c5f9cadeee940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2d7c25cd7845af" /><Relationship Type="http://schemas.openxmlformats.org/officeDocument/2006/relationships/notesMaster" Target="/ppt/notesMasters/notesMaster1.xml" Id="R2a1ef2e57c2548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329e8dd82c4c1b" /><Relationship Type="http://schemas.openxmlformats.org/officeDocument/2006/relationships/notesMaster" Target="/ppt/notesMasters/notesMaster1.xml" Id="Rd78f4949faee41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e4ccc436b74a2f" /><Relationship Type="http://schemas.openxmlformats.org/officeDocument/2006/relationships/notesMaster" Target="/ppt/notesMasters/notesMaster1.xml" Id="R07191a0489ff4a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5ba9868af1469e" /><Relationship Type="http://schemas.openxmlformats.org/officeDocument/2006/relationships/notesMaster" Target="/ppt/notesMasters/notesMaster1.xml" Id="R25fc820041bd4b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872fcc372b4d77" /><Relationship Type="http://schemas.openxmlformats.org/officeDocument/2006/relationships/notesMaster" Target="/ppt/notesMasters/notesMaster1.xml" Id="R13717e7bc49c4e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fdda4ae8864d34" /><Relationship Type="http://schemas.openxmlformats.org/officeDocument/2006/relationships/notesMaster" Target="/ppt/notesMasters/notesMaster1.xml" Id="Ra4d9ce6b7d1542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3827b4cd5f4158" /><Relationship Type="http://schemas.openxmlformats.org/officeDocument/2006/relationships/notesMaster" Target="/ppt/notesMasters/notesMaster1.xml" Id="Reffb0999a776412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main question: can early level-attempt behavior identify players who stop returning the following week? The project turns raw event logs into player-level predictors, compares four classifiers, and explains the selected model.</a:t>
            </a:r>
          </a:p>
          <a:p xmlns:a="http://schemas.openxmlformats.org/drawingml/2006/main">
            <a:r>
              <a:t/>
            </a:r>
          </a:p>
          <a:p xmlns:a="http://schemas.openxmlformats.org/drawingml/2006/main">
            <a:r>
              <a:t>[Sources]</a:t>
            </a:r>
          </a:p>
          <a:p xmlns:a="http://schemas.openxmlformats.org/drawingml/2006/main">
            <a:r>
              <a:t>- Project repository and generated results</a:t>
            </a:r>
          </a:p>
          <a:p xmlns:a="http://schemas.openxmlformats.org/drawingml/2006/main">
            <a:r>
              <a:t>- Kaggle: Prediction of User Loss in Mobile Games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this is Group 2: the minority class is between 5% and 40%. Therefore AUROC, precision, and recall are the required comparison metrics. F1 and AUPRC are included for additional context.</a:t>
            </a:r>
          </a:p>
          <a:p xmlns:a="http://schemas.openxmlformats.org/drawingml/2006/main">
            <a:r>
              <a:t/>
            </a:r>
          </a:p>
          <a:p xmlns:a="http://schemas.openxmlformats.org/drawingml/2006/main">
            <a:r>
              <a:t>[Sources]</a:t>
            </a:r>
          </a:p>
          <a:p xmlns:a="http://schemas.openxmlformats.org/drawingml/2006/main">
            <a:r>
              <a:t>- data/raw/data/train.csv</a:t>
            </a:r>
          </a:p>
          <a:p xmlns:a="http://schemas.openxmlformats.org/drawingml/2006/main">
            <a:r>
              <a:t>- reports/split_summary.csv</a:t>
            </a:r>
          </a:p>
          <a:p xmlns:a="http://schemas.openxmlformats.org/drawingml/2006/main">
            <a:r>
              <a:t>- Course project metric guidance supplied by instructor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key methodological choice is the boundary after threshold selection: all feature preparation, tuning, winner selection, and threshold selection occur from training data. The development set is evaluated only once.</a:t>
            </a:r>
          </a:p>
          <a:p xmlns:a="http://schemas.openxmlformats.org/drawingml/2006/main">
            <a:r>
              <a:t/>
            </a:r>
          </a:p>
          <a:p xmlns:a="http://schemas.openxmlformats.org/drawingml/2006/main">
            <a:r>
              <a:t>[Sources]</a:t>
            </a:r>
          </a:p>
          <a:p xmlns:a="http://schemas.openxmlformats.org/drawingml/2006/main">
            <a:r>
              <a:t>- src/build_features.py</a:t>
            </a:r>
          </a:p>
          <a:p xmlns:a="http://schemas.openxmlformats.org/drawingml/2006/main">
            <a:r>
              <a:t>- src/train_models.py</a:t>
            </a:r>
          </a:p>
          <a:p xmlns:a="http://schemas.openxmlformats.org/drawingml/2006/main">
            <a:r>
              <a:t>- reports/project_summary.md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how event rows become one feature vector per player. Emphasize that user_id is excluded and imputation happens inside each CV fold. Four model families range from a linear baseline to tree ensembles.</a:t>
            </a:r>
          </a:p>
          <a:p xmlns:a="http://schemas.openxmlformats.org/drawingml/2006/main">
            <a:r>
              <a:t/>
            </a:r>
          </a:p>
          <a:p xmlns:a="http://schemas.openxmlformats.org/drawingml/2006/main">
            <a:r>
              <a:t>[Sources]</a:t>
            </a:r>
          </a:p>
          <a:p xmlns:a="http://schemas.openxmlformats.org/drawingml/2006/main">
            <a:r>
              <a:t>- src/build_features.py</a:t>
            </a:r>
          </a:p>
          <a:p xmlns:a="http://schemas.openxmlformats.org/drawingml/2006/main">
            <a:r>
              <a:t>- models/model_metadata.json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three required Group 2 metrics. Random Forest was selected before looking at development metrics because it had the highest mean training CV AUROC. Logistic Regression's slightly higher holdout AUROC is reported, but does not retroactively change the model choice.</a:t>
            </a:r>
          </a:p>
          <a:p xmlns:a="http://schemas.openxmlformats.org/drawingml/2006/main">
            <a:r>
              <a:t/>
            </a:r>
          </a:p>
          <a:p xmlns:a="http://schemas.openxmlformats.org/drawingml/2006/main">
            <a:r>
              <a:t>[Sources]</a:t>
            </a:r>
          </a:p>
          <a:p xmlns:a="http://schemas.openxmlformats.org/drawingml/2006/main">
            <a:r>
              <a:t>- reports/model_selection_summary.csv</a:t>
            </a:r>
          </a:p>
          <a:p xmlns:a="http://schemas.openxmlformats.org/drawingml/2006/main">
            <a:r>
              <a:t>- reports/metrics.csv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recall because missing a future churner is the main retention risk. At the training-only threshold, the model catches 704 of 901 churners. Precision is lower because 512 retained players are also flagged, so interventions should be low-cost and reversible.</a:t>
            </a:r>
          </a:p>
          <a:p xmlns:a="http://schemas.openxmlformats.org/drawingml/2006/main">
            <a:r>
              <a:t/>
            </a:r>
          </a:p>
          <a:p xmlns:a="http://schemas.openxmlformats.org/drawingml/2006/main">
            <a:r>
              <a:t>[Sources]</a:t>
            </a:r>
          </a:p>
          <a:p xmlns:a="http://schemas.openxmlformats.org/drawingml/2006/main">
            <a:r>
              <a:t>- reports/metrics.csv</a:t>
            </a:r>
          </a:p>
          <a:p xmlns:a="http://schemas.openxmlformats.org/drawingml/2006/main">
            <a:r>
              <a:t>- reports/metric_confidence_intervals.csv</a:t>
            </a:r>
          </a:p>
          <a:p xmlns:a="http://schemas.openxmlformats.org/drawingml/2006/main">
            <a:r>
              <a:t>- reports/figures/confusion_matrix.png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SHAP carefully: points to the right increase model output. Recency is strongest, followed by weekend concentration and observation span. These are predictive associations, not proof that manipulating a feature will retain a player.</a:t>
            </a:r>
          </a:p>
          <a:p xmlns:a="http://schemas.openxmlformats.org/drawingml/2006/main">
            <a:r>
              <a:t/>
            </a:r>
          </a:p>
          <a:p xmlns:a="http://schemas.openxmlformats.org/drawingml/2006/main">
            <a:r>
              <a:t>[Sources]</a:t>
            </a:r>
          </a:p>
          <a:p xmlns:a="http://schemas.openxmlformats.org/drawingml/2006/main">
            <a:r>
              <a:t>- reports/shap_importance.csv</a:t>
            </a:r>
          </a:p>
          <a:p xmlns:a="http://schemas.openxmlformats.org/drawingml/2006/main">
            <a:r>
              <a:t>- reports/figures/shap_beeswarm.png</a:t>
            </a:r>
          </a:p>
          <a:p xmlns:a="http://schemas.openxmlformats.org/drawingml/2006/main">
            <a:r>
              <a:t>- Lundberg &amp; Lee (2017), A Unified Approach to Interpreting Model Predictions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balanced message. The predictive signal is useful and the evaluation is methodologically sound, but the dataset represents one game and a short window. External and experimental validation are the correct next steps.</a:t>
            </a:r>
          </a:p>
          <a:p xmlns:a="http://schemas.openxmlformats.org/drawingml/2006/main">
            <a:r>
              <a:t/>
            </a:r>
          </a:p>
          <a:p xmlns:a="http://schemas.openxmlformats.org/drawingml/2006/main">
            <a:r>
              <a:t>[Sources]</a:t>
            </a:r>
          </a:p>
          <a:p xmlns:a="http://schemas.openxmlformats.org/drawingml/2006/main">
            <a:r>
              <a:t>- reports/project_summary.md</a:t>
            </a:r>
          </a:p>
          <a:p xmlns:a="http://schemas.openxmlformats.org/drawingml/2006/main">
            <a:r>
              <a:t>- reports/error_analysis_summary.csv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d400d35a4a44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19e4a591864287" /><Relationship Type="http://schemas.openxmlformats.org/officeDocument/2006/relationships/slideLayout" Target="/ppt/slideLayouts/slideLayout1.xml" Id="R662027c526e74b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2027c526e74b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018d32ae4524094" /><Relationship Type="http://schemas.openxmlformats.org/officeDocument/2006/relationships/notesSlide" Target="/ppt/notesSlides/notesSlide1.xml" Id="R18bdb3a3f06c48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34169b5635f4302" /><Relationship Type="http://schemas.openxmlformats.org/officeDocument/2006/relationships/chart" Target="/ppt/slides/charts/chart1.xml" Id="R27ddc1e9f7574645" /><Relationship Type="http://schemas.openxmlformats.org/officeDocument/2006/relationships/notesSlide" Target="/ppt/notesSlides/notesSlide2.xml" Id="R1179a9c4d96f49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4da1218667a4167" /><Relationship Type="http://schemas.openxmlformats.org/officeDocument/2006/relationships/notesSlide" Target="/ppt/notesSlides/notesSlide3.xml" Id="R8644c7a0269647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c9388fb2530435c" /><Relationship Type="http://schemas.openxmlformats.org/officeDocument/2006/relationships/notesSlide" Target="/ppt/notesSlides/notesSlide4.xml" Id="R1d4c612b4ae34e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53005c2f0b04880" /><Relationship Type="http://schemas.openxmlformats.org/officeDocument/2006/relationships/chart" Target="/ppt/slides/charts/chart2.xml" Id="R61f7619936fe4c25" /><Relationship Type="http://schemas.openxmlformats.org/officeDocument/2006/relationships/notesSlide" Target="/ppt/notesSlides/notesSlide5.xml" Id="R7493e513dc844e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4f8f341b6484143" /><Relationship Type="http://schemas.openxmlformats.org/officeDocument/2006/relationships/image" Target="/ppt/media/image.png" Id="R2e7c954f823b4cad" /><Relationship Type="http://schemas.openxmlformats.org/officeDocument/2006/relationships/notesSlide" Target="/ppt/notesSlides/notesSlide6.xml" Id="Rb129cb979b1346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9f8f5fe24e94e90" /><Relationship Type="http://schemas.openxmlformats.org/officeDocument/2006/relationships/image" Target="/ppt/media/image2.png" Id="R6b8d4ce6752b4c80" /><Relationship Type="http://schemas.openxmlformats.org/officeDocument/2006/relationships/notesSlide" Target="/ppt/notesSlides/notesSlide7.xml" Id="R5dc90d9f6c664e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f220ed56b44ccc" /><Relationship Type="http://schemas.openxmlformats.org/officeDocument/2006/relationships/notesSlide" Target="/ppt/notesSlides/notesSlide8.xml" Id="R5d4f0c8322e84a79" /></Relationships>
</file>

<file path=ppt/slides/charts/chart1.xml><?xml version="1.0" encoding="utf-8"?>
<c:chartSpace xmlns:c="http://schemas.openxmlformats.org/drawingml/2006/chart">
  <c:lang val="en-US"/>
  <c:chart>
    <c:plotArea>
      <c:doughnutChart>
        <c:ser>
          <c:idx val="0"/>
          <c:order val="0"/>
          <c:tx>
            <c:v>Players</c:v>
          </c:tx>
          <c:dPt>
            <c:idx val="0"/>
            <c:spPr>
              <a:solidFill xmlns:a="http://schemas.openxmlformats.org/drawingml/2006/main">
                <a:srgbClr val="4C78A8"/>
              </a:solidFill>
            </c:spPr>
          </c:dPt>
          <c:dPt>
            <c:idx val="1"/>
            <c:spPr>
              <a:solidFill xmlns:a="http://schemas.openxmlformats.org/drawingml/2006/main">
                <a:srgbClr val="E45756"/>
              </a:solidFill>
            </c:spPr>
          </c:dPt>
          <c:cat>
            <c:strLit>
              <c:ptCount val="2"/>
              <c:pt idx="0">
                <c:v>Retained</c:v>
              </c:pt>
              <c:pt idx="1">
                <c:v>Churned</c:v>
              </c:pt>
            </c:strLit>
          </c:cat>
          <c:val>
            <c:numLit>
              <c:formatCode>General</c:formatCode>
              <c:ptCount val="2"/>
              <c:pt idx="0">
                <c:v>5428</c:v>
              </c:pt>
              <c:pt idx="1">
                <c:v>2730</c:v>
              </c:pt>
            </c:numLit>
          </c:val>
        </c:ser>
        <c:dLbls>
          <c:txPr>
            <a:bodyPr xmlns:a="http://schemas.openxmlformats.org/drawingml/2006/main" anchorCtr="1"/>
            <a:lstStyle xmlns:a="http://schemas.openxmlformats.org/drawingml/2006/main"/>
            <a:p xmlns:a="http://schemas.openxmlformats.org/drawingml/2006/main">
              <a:pPr>
                <a:defRPr sz="1200" b="1">
                  <a:solidFill>
                    <a:srgbClr val="000000"/>
                  </a:solidFill>
                </a:defRPr>
              </a:pPr>
            </a:p>
          </c:txPr>
          <c:showLegendKey val="0"/>
          <c:showVal val="0"/>
          <c:showCatName val="1"/>
          <c:showSerName val="0"/>
          <c:showPercent val="1"/>
          <c:showBubbleSize val="0"/>
          <c:showLeaderLines val="0"/>
        </c:dLbls>
        <c:holeSize val="62"/>
      </c:doughnutChart>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000000"/>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Dev AUROC</c:v>
          </c:tx>
          <c:spPr>
            <a:solidFill xmlns:a="http://schemas.openxmlformats.org/drawingml/2006/main">
              <a:srgbClr val="3D8DFF"/>
            </a:solidFill>
          </c:spPr>
          <c:cat>
            <c:strLit>
              <c:ptCount val="4"/>
              <c:pt idx="0">
                <c:v>Random Forest</c:v>
              </c:pt>
              <c:pt idx="1">
                <c:v>XGBoost</c:v>
              </c:pt>
              <c:pt idx="2">
                <c:v>Logistic Reg.</c:v>
              </c:pt>
              <c:pt idx="3">
                <c:v>Hist. GB</c:v>
              </c:pt>
            </c:strLit>
          </c:cat>
          <c:val>
            <c:numLit>
              <c:formatCode>0.0</c:formatCode>
              <c:ptCount val="4"/>
              <c:pt idx="0">
                <c:v>0.8024</c:v>
              </c:pt>
              <c:pt idx="1">
                <c:v>0.8021</c:v>
              </c:pt>
              <c:pt idx="2">
                <c:v>0.8053</c:v>
              </c:pt>
              <c:pt idx="3">
                <c:v>0.7959</c:v>
              </c:pt>
            </c:numLit>
          </c:val>
        </c:ser>
        <c:ser>
          <c:idx val="1"/>
          <c:order val="1"/>
          <c:tx>
            <c:v>Precision</c:v>
          </c:tx>
          <c:spPr>
            <a:solidFill xmlns:a="http://schemas.openxmlformats.org/drawingml/2006/main">
              <a:srgbClr val="6DCBF4"/>
            </a:solidFill>
          </c:spPr>
          <c:cat>
            <c:strLit>
              <c:ptCount val="4"/>
              <c:pt idx="0">
                <c:v>Random Forest</c:v>
              </c:pt>
              <c:pt idx="1">
                <c:v>XGBoost</c:v>
              </c:pt>
              <c:pt idx="2">
                <c:v>Logistic Reg.</c:v>
              </c:pt>
              <c:pt idx="3">
                <c:v>Hist. GB</c:v>
              </c:pt>
            </c:strLit>
          </c:cat>
          <c:val>
            <c:numLit>
              <c:formatCode>0.0</c:formatCode>
              <c:ptCount val="4"/>
              <c:pt idx="0">
                <c:v>0.5789</c:v>
              </c:pt>
              <c:pt idx="1">
                <c:v>0.6427</c:v>
              </c:pt>
              <c:pt idx="2">
                <c:v>0.6053</c:v>
              </c:pt>
              <c:pt idx="3">
                <c:v>0.5955</c:v>
              </c:pt>
            </c:numLit>
          </c:val>
        </c:ser>
        <c:ser>
          <c:idx val="2"/>
          <c:order val="2"/>
          <c:tx>
            <c:v>Recall</c:v>
          </c:tx>
          <c:spPr>
            <a:solidFill xmlns:a="http://schemas.openxmlformats.org/drawingml/2006/main">
              <a:srgbClr val="8CC8A8"/>
            </a:solidFill>
          </c:spPr>
          <c:cat>
            <c:strLit>
              <c:ptCount val="4"/>
              <c:pt idx="0">
                <c:v>Random Forest</c:v>
              </c:pt>
              <c:pt idx="1">
                <c:v>XGBoost</c:v>
              </c:pt>
              <c:pt idx="2">
                <c:v>Logistic Reg.</c:v>
              </c:pt>
              <c:pt idx="3">
                <c:v>Hist. GB</c:v>
              </c:pt>
            </c:strLit>
          </c:cat>
          <c:val>
            <c:numLit>
              <c:formatCode>0.0</c:formatCode>
              <c:ptCount val="4"/>
              <c:pt idx="0">
                <c:v>0.7814</c:v>
              </c:pt>
              <c:pt idx="1">
                <c:v>0.5649</c:v>
              </c:pt>
              <c:pt idx="2">
                <c:v>0.7336</c:v>
              </c:pt>
              <c:pt idx="3">
                <c:v>0.7303</c:v>
              </c:pt>
            </c:numLit>
          </c:val>
        </c:ser>
        <c:dLbls>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050">
                <a:solidFill>
                  <a:srgbClr val="000000"/>
                </a:solidFill>
              </a:defRPr>
            </a:pPr>
          </a:p>
        </c:txPr>
        <c:crossAx val="48672768"/>
      </c:catAx>
      <c:valAx>
        <c:axId val="48672768"/>
        <c:scaling>
          <c:orientation val="minMax"/>
          <c:max val="1"/>
          <c:min val="0"/>
        </c:scaling>
        <c:delete val="0"/>
        <c:axPos val="l"/>
        <c:majorGridlines>
          <c:spPr>
            <a:ln xmlns:a="http://schemas.openxmlformats.org/drawingml/2006/main" w="9525">
              <a:solidFill>
                <a:srgbClr val="E6E8EB"/>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F6670"/>
                </a:solidFill>
              </a:defRPr>
            </a:pPr>
          </a:p>
        </c:txPr>
        <c:crossAx val="48650112"/>
        <c:crossBetween val="between"/>
        <c:majorUnit val="0.2"/>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000000"/>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over-kicker">
            <a:extLst xmlns:a="http://schemas.openxmlformats.org/drawingml/2006/main">
              <a:ext uri="{FF2B5EF4-FFF2-40B4-BE49-F238E27FC236}">
                <a16:creationId xmlns:a16="http://schemas.microsoft.com/office/drawing/2014/main" id="{D0F1A6A7-81D1-4316-96D8-7EA286ABE647}"/>
              </a:ext>
            </a:extLst>
          </p:cNvPr>
          <p:cNvSpPr>
            <a:spLocks xmlns:a="http://schemas.openxmlformats.org/drawingml/2006/main" noGrp="1"/>
          </p:cNvSpPr>
          <p:nvPr/>
        </p:nvSpPr>
        <p:spPr>
          <a:xfrm xmlns:a="http://schemas.openxmlformats.org/drawingml/2006/main">
            <a:off x="514350" y="419100"/>
            <a:ext cx="590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5F6670"/>
                </a:solidFill>
                <a:latin typeface="Arial"/>
                <a:ea typeface="Arial"/>
                <a:cs typeface="Arial"/>
              </a:defRPr>
            </a:pPr>
            <a:r>
              <a:rPr sz="1350" b="1">
                <a:solidFill>
                  <a:srgbClr val="5F6670"/>
                </a:solidFill>
                <a:latin typeface="Arial"/>
                <a:ea typeface="Arial"/>
                <a:cs typeface="Arial"/>
              </a:rPr>
              <a:t>CSE437 • MACHINE LEARNING PROJECT</a:t>
            </a:r>
          </a:p>
        </p:txBody>
      </p:sp>
      <p:sp>
        <p:nvSpPr>
          <p:cNvPr id="2" name="cover-title">
            <a:extLst xmlns:a="http://schemas.openxmlformats.org/drawingml/2006/main">
              <a:ext uri="{FF2B5EF4-FFF2-40B4-BE49-F238E27FC236}">
                <a16:creationId xmlns:a16="http://schemas.microsoft.com/office/drawing/2014/main" id="{F34DB05A-47C5-4241-9AA7-D26518960492}"/>
              </a:ext>
            </a:extLst>
          </p:cNvPr>
          <p:cNvSpPr>
            <a:spLocks xmlns:a="http://schemas.openxmlformats.org/drawingml/2006/main" noGrp="1"/>
          </p:cNvSpPr>
          <p:nvPr/>
        </p:nvSpPr>
        <p:spPr>
          <a:xfrm xmlns:a="http://schemas.openxmlformats.org/drawingml/2006/main">
            <a:off x="514350" y="1571625"/>
            <a:ext cx="733425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defRPr sz="4800" b="1">
                <a:solidFill>
                  <a:srgbClr val="000000"/>
                </a:solidFill>
                <a:latin typeface="Arial"/>
                <a:ea typeface="Arial"/>
                <a:cs typeface="Arial"/>
              </a:defRPr>
            </a:pPr>
            <a:r>
              <a:rPr sz="4800" b="1">
                <a:solidFill>
                  <a:srgbClr val="000000"/>
                </a:solidFill>
                <a:latin typeface="Arial"/>
                <a:ea typeface="Arial"/>
                <a:cs typeface="Arial"/>
              </a:rPr>
              <a:t>Early Prediction of</a:t>
            </a:r>
          </a:p>
          <a:p xmlns:a="http://schemas.openxmlformats.org/drawingml/2006/main">
            <a:pPr>
              <a:defRPr sz="4800" b="1">
                <a:solidFill>
                  <a:srgbClr val="000000"/>
                </a:solidFill>
                <a:latin typeface="Arial"/>
                <a:ea typeface="Arial"/>
                <a:cs typeface="Arial"/>
              </a:defRPr>
            </a:pPr>
            <a:r>
              <a:rPr sz="4800" b="1">
                <a:solidFill>
                  <a:srgbClr val="000000"/>
                </a:solidFill>
                <a:latin typeface="Arial"/>
                <a:ea typeface="Arial"/>
                <a:cs typeface="Arial"/>
              </a:rPr>
              <a:t>Player Churn in</a:t>
            </a:r>
          </a:p>
          <a:p xmlns:a="http://schemas.openxmlformats.org/drawingml/2006/main">
            <a:pPr>
              <a:defRPr sz="4800" b="1">
                <a:solidFill>
                  <a:srgbClr val="000000"/>
                </a:solidFill>
                <a:latin typeface="Arial"/>
                <a:ea typeface="Arial"/>
                <a:cs typeface="Arial"/>
              </a:defRPr>
            </a:pPr>
            <a:r>
              <a:rPr sz="4800" b="1">
                <a:solidFill>
                  <a:srgbClr val="000000"/>
                </a:solidFill>
                <a:latin typeface="Arial"/>
                <a:ea typeface="Arial"/>
                <a:cs typeface="Arial"/>
              </a:rPr>
              <a:t>Mobile Games</a:t>
            </a:r>
          </a:p>
        </p:txBody>
      </p:sp>
      <p:sp>
        <p:nvSpPr>
          <p:cNvPr id="3" name="">
            <a:extLst xmlns:a="http://schemas.openxmlformats.org/drawingml/2006/main">
              <a:ext uri="{FF2B5EF4-FFF2-40B4-BE49-F238E27FC236}">
                <a16:creationId xmlns:a16="http://schemas.microsoft.com/office/drawing/2014/main" id="{E4A874A7-9ED6-40AA-84DA-261B877C05BD}"/>
              </a:ext>
            </a:extLst>
          </p:cNvPr>
          <p:cNvSpPr>
            <a:spLocks xmlns:a="http://schemas.openxmlformats.org/drawingml/2006/main" noGrp="1"/>
          </p:cNvSpPr>
          <p:nvPr/>
        </p:nvSpPr>
        <p:spPr>
          <a:xfrm xmlns:a="http://schemas.openxmlformats.org/drawingml/2006/main">
            <a:off x="8286750" y="1238250"/>
            <a:ext cx="3048000" cy="4095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4" name="cover-stat">
            <a:extLst xmlns:a="http://schemas.openxmlformats.org/drawingml/2006/main">
              <a:ext uri="{FF2B5EF4-FFF2-40B4-BE49-F238E27FC236}">
                <a16:creationId xmlns:a16="http://schemas.microsoft.com/office/drawing/2014/main" id="{5C4978D1-C358-4C61-BD7B-CBD90A38DA23}"/>
              </a:ext>
            </a:extLst>
          </p:cNvPr>
          <p:cNvSpPr>
            <a:spLocks xmlns:a="http://schemas.openxmlformats.org/drawingml/2006/main" noGrp="1"/>
          </p:cNvSpPr>
          <p:nvPr/>
        </p:nvSpPr>
        <p:spPr>
          <a:xfrm xmlns:a="http://schemas.openxmlformats.org/drawingml/2006/main">
            <a:off x="8667750" y="2000250"/>
            <a:ext cx="228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3D8DFF"/>
                </a:solidFill>
                <a:latin typeface="Arial"/>
                <a:ea typeface="Arial"/>
                <a:cs typeface="Arial"/>
              </a:defRPr>
            </a:pPr>
            <a:r>
              <a:rPr sz="4350" b="1">
                <a:solidFill>
                  <a:srgbClr val="3D8DFF"/>
                </a:solidFill>
                <a:latin typeface="Arial"/>
                <a:ea typeface="Arial"/>
                <a:cs typeface="Arial"/>
              </a:rPr>
              <a:t>2.19M</a:t>
            </a:r>
          </a:p>
        </p:txBody>
      </p:sp>
      <p:sp>
        <p:nvSpPr>
          <p:cNvPr id="5" name="cover-stat-label">
            <a:extLst xmlns:a="http://schemas.openxmlformats.org/drawingml/2006/main">
              <a:ext uri="{FF2B5EF4-FFF2-40B4-BE49-F238E27FC236}">
                <a16:creationId xmlns:a16="http://schemas.microsoft.com/office/drawing/2014/main" id="{570C5AAF-F60A-498F-8559-674847B7A28D}"/>
              </a:ext>
            </a:extLst>
          </p:cNvPr>
          <p:cNvSpPr>
            <a:spLocks xmlns:a="http://schemas.openxmlformats.org/drawingml/2006/main" noGrp="1"/>
          </p:cNvSpPr>
          <p:nvPr/>
        </p:nvSpPr>
        <p:spPr>
          <a:xfrm xmlns:a="http://schemas.openxmlformats.org/drawingml/2006/main">
            <a:off x="8667750" y="2952750"/>
            <a:ext cx="2286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725">
                <a:solidFill>
                  <a:srgbClr val="000000"/>
                </a:solidFill>
                <a:latin typeface="Arial"/>
                <a:ea typeface="Arial"/>
                <a:cs typeface="Arial"/>
              </a:defRPr>
            </a:pPr>
            <a:r>
              <a:rPr sz="1725">
                <a:solidFill>
                  <a:srgbClr val="000000"/>
                </a:solidFill>
                <a:latin typeface="Arial"/>
                <a:ea typeface="Arial"/>
                <a:cs typeface="Arial"/>
              </a:rPr>
              <a:t>gameplay events</a:t>
            </a:r>
          </a:p>
          <a:p xmlns:a="http://schemas.openxmlformats.org/drawingml/2006/main">
            <a:pPr>
              <a:defRPr sz="1725">
                <a:solidFill>
                  <a:srgbClr val="000000"/>
                </a:solidFill>
                <a:latin typeface="Arial"/>
                <a:ea typeface="Arial"/>
                <a:cs typeface="Arial"/>
              </a:defRPr>
            </a:pPr>
            <a:r>
              <a:rPr sz="1725">
                <a:solidFill>
                  <a:srgbClr val="000000"/>
                </a:solidFill>
                <a:latin typeface="Arial"/>
                <a:ea typeface="Arial"/>
                <a:cs typeface="Arial"/>
              </a:rPr>
              <a:t>converted into early</a:t>
            </a:r>
          </a:p>
          <a:p xmlns:a="http://schemas.openxmlformats.org/drawingml/2006/main">
            <a:pPr>
              <a:defRPr sz="1725">
                <a:solidFill>
                  <a:srgbClr val="000000"/>
                </a:solidFill>
                <a:latin typeface="Arial"/>
                <a:ea typeface="Arial"/>
                <a:cs typeface="Arial"/>
              </a:defRPr>
            </a:pPr>
            <a:r>
              <a:rPr sz="1725">
                <a:solidFill>
                  <a:srgbClr val="000000"/>
                </a:solidFill>
                <a:latin typeface="Arial"/>
                <a:ea typeface="Arial"/>
                <a:cs typeface="Arial"/>
              </a:rPr>
              <a:t>churn-risk signals</a:t>
            </a:r>
          </a:p>
        </p:txBody>
      </p:sp>
      <p:sp>
        <p:nvSpPr>
          <p:cNvPr id="6" name="cover-subtitle">
            <a:extLst xmlns:a="http://schemas.openxmlformats.org/drawingml/2006/main">
              <a:ext uri="{FF2B5EF4-FFF2-40B4-BE49-F238E27FC236}">
                <a16:creationId xmlns:a16="http://schemas.microsoft.com/office/drawing/2014/main" id="{9C61C8E6-CDAA-4E4E-AB2E-C4B7B5AAE9C0}"/>
              </a:ext>
            </a:extLst>
          </p:cNvPr>
          <p:cNvSpPr>
            <a:spLocks xmlns:a="http://schemas.openxmlformats.org/drawingml/2006/main" noGrp="1"/>
          </p:cNvSpPr>
          <p:nvPr/>
        </p:nvSpPr>
        <p:spPr>
          <a:xfrm xmlns:a="http://schemas.openxmlformats.org/drawingml/2006/main">
            <a:off x="514350" y="5286375"/>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650">
                <a:solidFill>
                  <a:srgbClr val="5F6670"/>
                </a:solidFill>
                <a:latin typeface="Arial"/>
                <a:ea typeface="Arial"/>
                <a:cs typeface="Arial"/>
              </a:defRPr>
            </a:pPr>
            <a:r>
              <a:rPr sz="1650">
                <a:solidFill>
                  <a:srgbClr val="5F6670"/>
                </a:solidFill>
                <a:latin typeface="Arial"/>
                <a:ea typeface="Arial"/>
                <a:cs typeface="Arial"/>
              </a:rPr>
              <a:t>Comparative modeling • Explainable AI • Development holdout</a:t>
            </a:r>
          </a:p>
        </p:txBody>
      </p:sp>
    </p:spTree>
    <p:extLst>
      <p:ext uri="{BB962C8B-B14F-4D97-AF65-F5344CB8AC3E}">
        <p14:creationId xmlns:p14="http://schemas.microsoft.com/office/powerpoint/2010/main" val="12545330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itle-2">
            <a:extLst xmlns:a="http://schemas.openxmlformats.org/drawingml/2006/main">
              <a:ext uri="{FF2B5EF4-FFF2-40B4-BE49-F238E27FC236}">
                <a16:creationId xmlns:a16="http://schemas.microsoft.com/office/drawing/2014/main" id="{B2CAA42F-D21A-4365-B66B-E66A747D7743}"/>
              </a:ext>
            </a:extLst>
          </p:cNvPr>
          <p:cNvSpPr>
            <a:spLocks xmlns:a="http://schemas.openxmlformats.org/drawingml/2006/main" noGrp="1"/>
          </p:cNvSpPr>
          <p:nvPr/>
        </p:nvSpPr>
        <p:spPr>
          <a:xfrm xmlns:a="http://schemas.openxmlformats.org/drawingml/2006/main">
            <a:off x="514350" y="3238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2925" b="1">
                <a:solidFill>
                  <a:srgbClr val="000000"/>
                </a:solidFill>
                <a:latin typeface="Arial"/>
                <a:ea typeface="Arial"/>
                <a:cs typeface="Arial"/>
              </a:defRPr>
            </a:pPr>
            <a:r>
              <a:rPr sz="2925" b="1">
                <a:solidFill>
                  <a:srgbClr val="000000"/>
                </a:solidFill>
                <a:latin typeface="Arial"/>
                <a:ea typeface="Arial"/>
                <a:cs typeface="Arial"/>
              </a:rPr>
              <a:t>The dataset is mildly imbalanced — Group 2</a:t>
            </a:r>
          </a:p>
        </p:txBody>
      </p:sp>
      <p:sp>
        <p:nvSpPr>
          <p:cNvPr id="2" name="slide-number-2">
            <a:extLst xmlns:a="http://schemas.openxmlformats.org/drawingml/2006/main">
              <a:ext uri="{FF2B5EF4-FFF2-40B4-BE49-F238E27FC236}">
                <a16:creationId xmlns:a16="http://schemas.microsoft.com/office/drawing/2014/main" id="{BB756D6E-BB69-4E26-9B2B-6B828DA88546}"/>
              </a:ext>
            </a:extLst>
          </p:cNvPr>
          <p:cNvSpPr>
            <a:spLocks xmlns:a="http://schemas.openxmlformats.org/drawingml/2006/main" noGrp="1"/>
          </p:cNvSpPr>
          <p:nvPr/>
        </p:nvSpPr>
        <p:spPr>
          <a:xfrm xmlns:a="http://schemas.openxmlformats.org/drawingml/2006/main">
            <a:off x="11353800" y="627697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r">
              <a:defRPr sz="975">
                <a:solidFill>
                  <a:srgbClr val="5F6670"/>
                </a:solidFill>
                <a:latin typeface="Arial"/>
                <a:ea typeface="Arial"/>
                <a:cs typeface="Arial"/>
              </a:defRPr>
            </a:pPr>
            <a:r>
              <a:rPr sz="975">
                <a:solidFill>
                  <a:srgbClr val="5F6670"/>
                </a:solidFill>
                <a:latin typeface="Arial"/>
                <a:ea typeface="Arial"/>
                <a:cs typeface="Arial"/>
              </a:rPr>
              <a:t>2</a:t>
            </a:r>
          </a:p>
        </p:txBody>
      </p:sp>
      <p:graphicFrame>
        <p:nvGraphicFramePr>
          <p:cNvPr id="23" name="Chart"/>
          <p:cNvGraphicFramePr/>
          <p:nvPr/>
        </p:nvGraphicFramePr>
        <p:xfrm>
          <a:off xmlns:a="http://schemas.openxmlformats.org/drawingml/2006/main" x="523875" y="1381125"/>
          <a:ext xmlns:a="http://schemas.openxmlformats.org/drawingml/2006/main" cx="4953000" cy="4476750"/>
        </p:xfrm>
        <a:graphic xmlns:a="http://schemas.openxmlformats.org/drawingml/2006/main">
          <a:graphicData uri="http://schemas.openxmlformats.org/drawingml/2006/chart">
            <c:chart xmlns:r="http://schemas.openxmlformats.org/officeDocument/2006/relationships" xmlns:c="http://schemas.openxmlformats.org/drawingml/2006/chart" r:id="R27ddc1e9f7574645"/>
          </a:graphicData>
        </a:graphic>
      </p:graphicFrame>
      <p:sp>
        <p:nvSpPr>
          <p:cNvPr id="4" name="">
            <a:extLst xmlns:a="http://schemas.openxmlformats.org/drawingml/2006/main">
              <a:ext uri="{FF2B5EF4-FFF2-40B4-BE49-F238E27FC236}">
                <a16:creationId xmlns:a16="http://schemas.microsoft.com/office/drawing/2014/main" id="{25A0D92A-6A64-471D-B5AC-70EDF3BC723E}"/>
              </a:ext>
            </a:extLst>
          </p:cNvPr>
          <p:cNvSpPr>
            <a:spLocks xmlns:a="http://schemas.openxmlformats.org/drawingml/2006/main" noGrp="1"/>
          </p:cNvSpPr>
          <p:nvPr/>
        </p:nvSpPr>
        <p:spPr>
          <a:xfrm xmlns:a="http://schemas.openxmlformats.org/drawingml/2006/main">
            <a:off x="6191250" y="1476375"/>
            <a:ext cx="2381250" cy="14668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9890DF5-2A8D-49FE-9531-542FB07BFC30}"/>
              </a:ext>
            </a:extLst>
          </p:cNvPr>
          <p:cNvSpPr>
            <a:spLocks xmlns:a="http://schemas.openxmlformats.org/drawingml/2006/main" noGrp="1"/>
          </p:cNvSpPr>
          <p:nvPr/>
        </p:nvSpPr>
        <p:spPr>
          <a:xfrm xmlns:a="http://schemas.openxmlformats.org/drawingml/2006/main">
            <a:off x="6191250" y="1476375"/>
            <a:ext cx="95250" cy="14668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6" name="metric-labeled training players">
            <a:extLst xmlns:a="http://schemas.openxmlformats.org/drawingml/2006/main">
              <a:ext uri="{FF2B5EF4-FFF2-40B4-BE49-F238E27FC236}">
                <a16:creationId xmlns:a16="http://schemas.microsoft.com/office/drawing/2014/main" id="{33149E33-54EC-4147-B6B3-B80E41D86A8B}"/>
              </a:ext>
            </a:extLst>
          </p:cNvPr>
          <p:cNvSpPr>
            <a:spLocks xmlns:a="http://schemas.openxmlformats.org/drawingml/2006/main" noGrp="1"/>
          </p:cNvSpPr>
          <p:nvPr/>
        </p:nvSpPr>
        <p:spPr>
          <a:xfrm xmlns:a="http://schemas.openxmlformats.org/drawingml/2006/main">
            <a:off x="6438900" y="1666875"/>
            <a:ext cx="1962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3600" b="1">
                <a:solidFill>
                  <a:srgbClr val="000000"/>
                </a:solidFill>
                <a:latin typeface="Arial"/>
                <a:ea typeface="Arial"/>
                <a:cs typeface="Arial"/>
              </a:defRPr>
            </a:pPr>
            <a:r>
              <a:rPr sz="3600" b="1">
                <a:solidFill>
                  <a:srgbClr val="000000"/>
                </a:solidFill>
                <a:latin typeface="Arial"/>
                <a:ea typeface="Arial"/>
                <a:cs typeface="Arial"/>
              </a:rPr>
              <a:t>8,158</a:t>
            </a:r>
          </a:p>
        </p:txBody>
      </p:sp>
      <p:sp>
        <p:nvSpPr>
          <p:cNvPr id="7" name="metric-label-labeled training players">
            <a:extLst xmlns:a="http://schemas.openxmlformats.org/drawingml/2006/main">
              <a:ext uri="{FF2B5EF4-FFF2-40B4-BE49-F238E27FC236}">
                <a16:creationId xmlns:a16="http://schemas.microsoft.com/office/drawing/2014/main" id="{60B5EDAA-FECC-4FAB-9DBC-D65B1D75A370}"/>
              </a:ext>
            </a:extLst>
          </p:cNvPr>
          <p:cNvSpPr>
            <a:spLocks xmlns:a="http://schemas.openxmlformats.org/drawingml/2006/main" noGrp="1"/>
          </p:cNvSpPr>
          <p:nvPr/>
        </p:nvSpPr>
        <p:spPr>
          <a:xfrm xmlns:a="http://schemas.openxmlformats.org/drawingml/2006/main">
            <a:off x="6438900" y="2333625"/>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350">
                <a:solidFill>
                  <a:srgbClr val="5F6670"/>
                </a:solidFill>
                <a:latin typeface="Arial"/>
                <a:ea typeface="Arial"/>
                <a:cs typeface="Arial"/>
              </a:defRPr>
            </a:pPr>
            <a:r>
              <a:rPr sz="1350">
                <a:solidFill>
                  <a:srgbClr val="5F6670"/>
                </a:solidFill>
                <a:latin typeface="Arial"/>
                <a:ea typeface="Arial"/>
                <a:cs typeface="Arial"/>
              </a:rPr>
              <a:t>labeled training players</a:t>
            </a:r>
          </a:p>
        </p:txBody>
      </p:sp>
      <p:sp>
        <p:nvSpPr>
          <p:cNvPr id="8" name="">
            <a:extLst xmlns:a="http://schemas.openxmlformats.org/drawingml/2006/main">
              <a:ext uri="{FF2B5EF4-FFF2-40B4-BE49-F238E27FC236}">
                <a16:creationId xmlns:a16="http://schemas.microsoft.com/office/drawing/2014/main" id="{379AFBFE-F14E-4613-89FA-2A2487AB740A}"/>
              </a:ext>
            </a:extLst>
          </p:cNvPr>
          <p:cNvSpPr>
            <a:spLocks xmlns:a="http://schemas.openxmlformats.org/drawingml/2006/main" noGrp="1"/>
          </p:cNvSpPr>
          <p:nvPr/>
        </p:nvSpPr>
        <p:spPr>
          <a:xfrm xmlns:a="http://schemas.openxmlformats.org/drawingml/2006/main">
            <a:off x="8858250" y="1476375"/>
            <a:ext cx="2381250" cy="14668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C186D33-F695-4157-863D-A00FFC595E5F}"/>
              </a:ext>
            </a:extLst>
          </p:cNvPr>
          <p:cNvSpPr>
            <a:spLocks xmlns:a="http://schemas.openxmlformats.org/drawingml/2006/main" noGrp="1"/>
          </p:cNvSpPr>
          <p:nvPr/>
        </p:nvSpPr>
        <p:spPr>
          <a:xfrm xmlns:a="http://schemas.openxmlformats.org/drawingml/2006/main">
            <a:off x="8858250" y="1476375"/>
            <a:ext cx="95250" cy="14668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0" name="metric-development players">
            <a:extLst xmlns:a="http://schemas.openxmlformats.org/drawingml/2006/main">
              <a:ext uri="{FF2B5EF4-FFF2-40B4-BE49-F238E27FC236}">
                <a16:creationId xmlns:a16="http://schemas.microsoft.com/office/drawing/2014/main" id="{2B4F6433-5643-4F61-998D-B9516FB70117}"/>
              </a:ext>
            </a:extLst>
          </p:cNvPr>
          <p:cNvSpPr>
            <a:spLocks xmlns:a="http://schemas.openxmlformats.org/drawingml/2006/main" noGrp="1"/>
          </p:cNvSpPr>
          <p:nvPr/>
        </p:nvSpPr>
        <p:spPr>
          <a:xfrm xmlns:a="http://schemas.openxmlformats.org/drawingml/2006/main">
            <a:off x="9105900" y="1666875"/>
            <a:ext cx="1962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3600" b="1">
                <a:solidFill>
                  <a:srgbClr val="000000"/>
                </a:solidFill>
                <a:latin typeface="Arial"/>
                <a:ea typeface="Arial"/>
                <a:cs typeface="Arial"/>
              </a:defRPr>
            </a:pPr>
            <a:r>
              <a:rPr sz="3600" b="1">
                <a:solidFill>
                  <a:srgbClr val="000000"/>
                </a:solidFill>
                <a:latin typeface="Arial"/>
                <a:ea typeface="Arial"/>
                <a:cs typeface="Arial"/>
              </a:rPr>
              <a:t>2,658</a:t>
            </a:r>
          </a:p>
        </p:txBody>
      </p:sp>
      <p:sp>
        <p:nvSpPr>
          <p:cNvPr id="11" name="metric-label-development players">
            <a:extLst xmlns:a="http://schemas.openxmlformats.org/drawingml/2006/main">
              <a:ext uri="{FF2B5EF4-FFF2-40B4-BE49-F238E27FC236}">
                <a16:creationId xmlns:a16="http://schemas.microsoft.com/office/drawing/2014/main" id="{1235D726-7286-41A3-83C9-2AB5823EF6EB}"/>
              </a:ext>
            </a:extLst>
          </p:cNvPr>
          <p:cNvSpPr>
            <a:spLocks xmlns:a="http://schemas.openxmlformats.org/drawingml/2006/main" noGrp="1"/>
          </p:cNvSpPr>
          <p:nvPr/>
        </p:nvSpPr>
        <p:spPr>
          <a:xfrm xmlns:a="http://schemas.openxmlformats.org/drawingml/2006/main">
            <a:off x="9105900" y="2333625"/>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350">
                <a:solidFill>
                  <a:srgbClr val="5F6670"/>
                </a:solidFill>
                <a:latin typeface="Arial"/>
                <a:ea typeface="Arial"/>
                <a:cs typeface="Arial"/>
              </a:defRPr>
            </a:pPr>
            <a:r>
              <a:rPr sz="1350">
                <a:solidFill>
                  <a:srgbClr val="5F6670"/>
                </a:solidFill>
                <a:latin typeface="Arial"/>
                <a:ea typeface="Arial"/>
                <a:cs typeface="Arial"/>
              </a:rPr>
              <a:t>development players</a:t>
            </a:r>
          </a:p>
        </p:txBody>
      </p:sp>
      <p:sp>
        <p:nvSpPr>
          <p:cNvPr id="12" name="">
            <a:extLst xmlns:a="http://schemas.openxmlformats.org/drawingml/2006/main">
              <a:ext uri="{FF2B5EF4-FFF2-40B4-BE49-F238E27FC236}">
                <a16:creationId xmlns:a16="http://schemas.microsoft.com/office/drawing/2014/main" id="{6F166D73-EEBB-42EE-991C-95DA3D0ADA57}"/>
              </a:ext>
            </a:extLst>
          </p:cNvPr>
          <p:cNvSpPr>
            <a:spLocks xmlns:a="http://schemas.openxmlformats.org/drawingml/2006/main" noGrp="1"/>
          </p:cNvSpPr>
          <p:nvPr/>
        </p:nvSpPr>
        <p:spPr>
          <a:xfrm xmlns:a="http://schemas.openxmlformats.org/drawingml/2006/main">
            <a:off x="6191250" y="3286125"/>
            <a:ext cx="2381250" cy="14668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7841980-A62A-4058-8B8F-35E67BE4A939}"/>
              </a:ext>
            </a:extLst>
          </p:cNvPr>
          <p:cNvSpPr>
            <a:spLocks xmlns:a="http://schemas.openxmlformats.org/drawingml/2006/main" noGrp="1"/>
          </p:cNvSpPr>
          <p:nvPr/>
        </p:nvSpPr>
        <p:spPr>
          <a:xfrm xmlns:a="http://schemas.openxmlformats.org/drawingml/2006/main">
            <a:off x="6191250" y="3286125"/>
            <a:ext cx="95250" cy="1466850"/>
          </a:xfrm>
          <a:prstGeom xmlns:a="http://schemas.openxmlformats.org/drawingml/2006/main" prst="rect">
            <a:avLst/>
          </a:prstGeom>
          <a:solidFill xmlns:a="http://schemas.openxmlformats.org/drawingml/2006/main">
            <a:srgbClr val="8CC8A8"/>
          </a:solidFill>
          <a:ln xmlns:a="http://schemas.openxmlformats.org/drawingml/2006/main" w="0">
            <a:noFill/>
            <a:prstDash val="solid"/>
          </a:ln>
        </p:spPr>
      </p:sp>
      <p:sp>
        <p:nvSpPr>
          <p:cNvPr id="14" name="metric-engineered predictors">
            <a:extLst xmlns:a="http://schemas.openxmlformats.org/drawingml/2006/main">
              <a:ext uri="{FF2B5EF4-FFF2-40B4-BE49-F238E27FC236}">
                <a16:creationId xmlns:a16="http://schemas.microsoft.com/office/drawing/2014/main" id="{A210A3DE-5BE8-4027-B8B0-0BC7972C6D28}"/>
              </a:ext>
            </a:extLst>
          </p:cNvPr>
          <p:cNvSpPr>
            <a:spLocks xmlns:a="http://schemas.openxmlformats.org/drawingml/2006/main" noGrp="1"/>
          </p:cNvSpPr>
          <p:nvPr/>
        </p:nvSpPr>
        <p:spPr>
          <a:xfrm xmlns:a="http://schemas.openxmlformats.org/drawingml/2006/main">
            <a:off x="6438900" y="3476625"/>
            <a:ext cx="1962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3600" b="1">
                <a:solidFill>
                  <a:srgbClr val="000000"/>
                </a:solidFill>
                <a:latin typeface="Arial"/>
                <a:ea typeface="Arial"/>
                <a:cs typeface="Arial"/>
              </a:defRPr>
            </a:pPr>
            <a:r>
              <a:rPr sz="3600" b="1">
                <a:solidFill>
                  <a:srgbClr val="000000"/>
                </a:solidFill>
                <a:latin typeface="Arial"/>
                <a:ea typeface="Arial"/>
                <a:cs typeface="Arial"/>
              </a:rPr>
              <a:t>41</a:t>
            </a:r>
          </a:p>
        </p:txBody>
      </p:sp>
      <p:sp>
        <p:nvSpPr>
          <p:cNvPr id="15" name="metric-label-engineered predictors">
            <a:extLst xmlns:a="http://schemas.openxmlformats.org/drawingml/2006/main">
              <a:ext uri="{FF2B5EF4-FFF2-40B4-BE49-F238E27FC236}">
                <a16:creationId xmlns:a16="http://schemas.microsoft.com/office/drawing/2014/main" id="{84D75643-9D56-4BFE-8D4C-B0D3B65C3095}"/>
              </a:ext>
            </a:extLst>
          </p:cNvPr>
          <p:cNvSpPr>
            <a:spLocks xmlns:a="http://schemas.openxmlformats.org/drawingml/2006/main" noGrp="1"/>
          </p:cNvSpPr>
          <p:nvPr/>
        </p:nvSpPr>
        <p:spPr>
          <a:xfrm xmlns:a="http://schemas.openxmlformats.org/drawingml/2006/main">
            <a:off x="6438900" y="4143375"/>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350">
                <a:solidFill>
                  <a:srgbClr val="5F6670"/>
                </a:solidFill>
                <a:latin typeface="Arial"/>
                <a:ea typeface="Arial"/>
                <a:cs typeface="Arial"/>
              </a:defRPr>
            </a:pPr>
            <a:r>
              <a:rPr sz="1350">
                <a:solidFill>
                  <a:srgbClr val="5F6670"/>
                </a:solidFill>
                <a:latin typeface="Arial"/>
                <a:ea typeface="Arial"/>
                <a:cs typeface="Arial"/>
              </a:rPr>
              <a:t>engineered predictors</a:t>
            </a:r>
          </a:p>
        </p:txBody>
      </p:sp>
      <p:sp>
        <p:nvSpPr>
          <p:cNvPr id="16" name="">
            <a:extLst xmlns:a="http://schemas.openxmlformats.org/drawingml/2006/main">
              <a:ext uri="{FF2B5EF4-FFF2-40B4-BE49-F238E27FC236}">
                <a16:creationId xmlns:a16="http://schemas.microsoft.com/office/drawing/2014/main" id="{A390F970-5373-4A14-BC6C-B2B13CEC5B0B}"/>
              </a:ext>
            </a:extLst>
          </p:cNvPr>
          <p:cNvSpPr>
            <a:spLocks xmlns:a="http://schemas.openxmlformats.org/drawingml/2006/main" noGrp="1"/>
          </p:cNvSpPr>
          <p:nvPr/>
        </p:nvSpPr>
        <p:spPr>
          <a:xfrm xmlns:a="http://schemas.openxmlformats.org/drawingml/2006/main">
            <a:off x="8858250" y="3286125"/>
            <a:ext cx="2381250" cy="14668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BBCDCB4-A8D1-448A-8C4A-DBD0A2A40D6B}"/>
              </a:ext>
            </a:extLst>
          </p:cNvPr>
          <p:cNvSpPr>
            <a:spLocks xmlns:a="http://schemas.openxmlformats.org/drawingml/2006/main" noGrp="1"/>
          </p:cNvSpPr>
          <p:nvPr/>
        </p:nvSpPr>
        <p:spPr>
          <a:xfrm xmlns:a="http://schemas.openxmlformats.org/drawingml/2006/main">
            <a:off x="8858250" y="3286125"/>
            <a:ext cx="95250" cy="1466850"/>
          </a:xfrm>
          <a:prstGeom xmlns:a="http://schemas.openxmlformats.org/drawingml/2006/main" prst="rect">
            <a:avLst/>
          </a:prstGeom>
          <a:solidFill xmlns:a="http://schemas.openxmlformats.org/drawingml/2006/main">
            <a:srgbClr val="E45756"/>
          </a:solidFill>
          <a:ln xmlns:a="http://schemas.openxmlformats.org/drawingml/2006/main" w="0">
            <a:noFill/>
            <a:prstDash val="solid"/>
          </a:ln>
        </p:spPr>
      </p:sp>
      <p:sp>
        <p:nvSpPr>
          <p:cNvPr id="18" name="metric-minority churn class">
            <a:extLst xmlns:a="http://schemas.openxmlformats.org/drawingml/2006/main">
              <a:ext uri="{FF2B5EF4-FFF2-40B4-BE49-F238E27FC236}">
                <a16:creationId xmlns:a16="http://schemas.microsoft.com/office/drawing/2014/main" id="{66C3EC6E-D395-4BC8-83A4-7CA160BACFC7}"/>
              </a:ext>
            </a:extLst>
          </p:cNvPr>
          <p:cNvSpPr>
            <a:spLocks xmlns:a="http://schemas.openxmlformats.org/drawingml/2006/main" noGrp="1"/>
          </p:cNvSpPr>
          <p:nvPr/>
        </p:nvSpPr>
        <p:spPr>
          <a:xfrm xmlns:a="http://schemas.openxmlformats.org/drawingml/2006/main">
            <a:off x="9105900" y="3476625"/>
            <a:ext cx="1962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3600" b="1">
                <a:solidFill>
                  <a:srgbClr val="000000"/>
                </a:solidFill>
                <a:latin typeface="Arial"/>
                <a:ea typeface="Arial"/>
                <a:cs typeface="Arial"/>
              </a:defRPr>
            </a:pPr>
            <a:r>
              <a:rPr sz="3600" b="1">
                <a:solidFill>
                  <a:srgbClr val="000000"/>
                </a:solidFill>
                <a:latin typeface="Arial"/>
                <a:ea typeface="Arial"/>
                <a:cs typeface="Arial"/>
              </a:rPr>
              <a:t>33.5%</a:t>
            </a:r>
          </a:p>
        </p:txBody>
      </p:sp>
      <p:sp>
        <p:nvSpPr>
          <p:cNvPr id="19" name="metric-label-minority churn class">
            <a:extLst xmlns:a="http://schemas.openxmlformats.org/drawingml/2006/main">
              <a:ext uri="{FF2B5EF4-FFF2-40B4-BE49-F238E27FC236}">
                <a16:creationId xmlns:a16="http://schemas.microsoft.com/office/drawing/2014/main" id="{4D0578E2-9F8F-4645-BB3E-C59CF897AE6A}"/>
              </a:ext>
            </a:extLst>
          </p:cNvPr>
          <p:cNvSpPr>
            <a:spLocks xmlns:a="http://schemas.openxmlformats.org/drawingml/2006/main" noGrp="1"/>
          </p:cNvSpPr>
          <p:nvPr/>
        </p:nvSpPr>
        <p:spPr>
          <a:xfrm xmlns:a="http://schemas.openxmlformats.org/drawingml/2006/main">
            <a:off x="9105900" y="4143375"/>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350">
                <a:solidFill>
                  <a:srgbClr val="5F6670"/>
                </a:solidFill>
                <a:latin typeface="Arial"/>
                <a:ea typeface="Arial"/>
                <a:cs typeface="Arial"/>
              </a:defRPr>
            </a:pPr>
            <a:r>
              <a:rPr sz="1350">
                <a:solidFill>
                  <a:srgbClr val="5F6670"/>
                </a:solidFill>
                <a:latin typeface="Arial"/>
                <a:ea typeface="Arial"/>
                <a:cs typeface="Arial"/>
              </a:rPr>
              <a:t>minority churn class</a:t>
            </a:r>
          </a:p>
        </p:txBody>
      </p:sp>
      <p:sp>
        <p:nvSpPr>
          <p:cNvPr id="20" name="metrics-guidance">
            <a:extLst xmlns:a="http://schemas.openxmlformats.org/drawingml/2006/main">
              <a:ext uri="{FF2B5EF4-FFF2-40B4-BE49-F238E27FC236}">
                <a16:creationId xmlns:a16="http://schemas.microsoft.com/office/drawing/2014/main" id="{E5321ACA-8126-46D7-8066-A310C745C59C}"/>
              </a:ext>
            </a:extLst>
          </p:cNvPr>
          <p:cNvSpPr>
            <a:spLocks xmlns:a="http://schemas.openxmlformats.org/drawingml/2006/main" noGrp="1"/>
          </p:cNvSpPr>
          <p:nvPr/>
        </p:nvSpPr>
        <p:spPr>
          <a:xfrm xmlns:a="http://schemas.openxmlformats.org/drawingml/2006/main">
            <a:off x="6191250" y="5238750"/>
            <a:ext cx="5048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000000"/>
                </a:solidFill>
                <a:latin typeface="Arial"/>
                <a:ea typeface="Arial"/>
                <a:cs typeface="Arial"/>
              </a:defRPr>
            </a:pPr>
            <a:r>
              <a:rPr sz="1500" b="1">
                <a:solidFill>
                  <a:srgbClr val="000000"/>
                </a:solidFill>
                <a:latin typeface="Arial"/>
                <a:ea typeface="Arial"/>
                <a:cs typeface="Arial"/>
              </a:rPr>
              <a:t>Primary metrics: AUROC • Precision • Recall   |   Additional: F1 • AUPRC</a:t>
            </a:r>
          </a:p>
        </p:txBody>
      </p:sp>
    </p:spTree>
    <p:extLst>
      <p:ext uri="{BB962C8B-B14F-4D97-AF65-F5344CB8AC3E}">
        <p14:creationId xmlns:p14="http://schemas.microsoft.com/office/powerpoint/2010/main" val="2236172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title-3">
            <a:extLst xmlns:a="http://schemas.openxmlformats.org/drawingml/2006/main">
              <a:ext uri="{FF2B5EF4-FFF2-40B4-BE49-F238E27FC236}">
                <a16:creationId xmlns:a16="http://schemas.microsoft.com/office/drawing/2014/main" id="{DA0B0704-D242-4008-BFF0-585C2C3F3D79}"/>
              </a:ext>
            </a:extLst>
          </p:cNvPr>
          <p:cNvSpPr>
            <a:spLocks xmlns:a="http://schemas.openxmlformats.org/drawingml/2006/main" noGrp="1"/>
          </p:cNvSpPr>
          <p:nvPr/>
        </p:nvSpPr>
        <p:spPr>
          <a:xfrm xmlns:a="http://schemas.openxmlformats.org/drawingml/2006/main">
            <a:off x="514350" y="3238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01"/>
          </a:bodyPr>
          <a:lstStyle xmlns:a="http://schemas.openxmlformats.org/drawingml/2006/main"/>
          <a:p xmlns:a="http://schemas.openxmlformats.org/drawingml/2006/main">
            <a:pPr>
              <a:defRPr sz="2925" b="1">
                <a:solidFill>
                  <a:srgbClr val="000000"/>
                </a:solidFill>
                <a:latin typeface="Arial"/>
                <a:ea typeface="Arial"/>
                <a:cs typeface="Arial"/>
              </a:defRPr>
            </a:pPr>
            <a:r>
              <a:rPr sz="2925" b="1">
                <a:solidFill>
                  <a:srgbClr val="000000"/>
                </a:solidFill>
                <a:latin typeface="Arial"/>
                <a:ea typeface="Arial"/>
                <a:cs typeface="Arial"/>
              </a:rPr>
              <a:t>Workflow isolates the holdout from every selection decision</a:t>
            </a:r>
          </a:p>
        </p:txBody>
      </p:sp>
      <p:sp>
        <p:nvSpPr>
          <p:cNvPr id="2" name="slide-number-3">
            <a:extLst xmlns:a="http://schemas.openxmlformats.org/drawingml/2006/main">
              <a:ext uri="{FF2B5EF4-FFF2-40B4-BE49-F238E27FC236}">
                <a16:creationId xmlns:a16="http://schemas.microsoft.com/office/drawing/2014/main" id="{439EDFD4-4B73-457A-A7E1-A726D13B317A}"/>
              </a:ext>
            </a:extLst>
          </p:cNvPr>
          <p:cNvSpPr>
            <a:spLocks xmlns:a="http://schemas.openxmlformats.org/drawingml/2006/main" noGrp="1"/>
          </p:cNvSpPr>
          <p:nvPr/>
        </p:nvSpPr>
        <p:spPr>
          <a:xfrm xmlns:a="http://schemas.openxmlformats.org/drawingml/2006/main">
            <a:off x="11353800" y="627697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r">
              <a:defRPr sz="975">
                <a:solidFill>
                  <a:srgbClr val="5F6670"/>
                </a:solidFill>
                <a:latin typeface="Arial"/>
                <a:ea typeface="Arial"/>
                <a:cs typeface="Arial"/>
              </a:defRPr>
            </a:pPr>
            <a:r>
              <a:rPr sz="975">
                <a:solidFill>
                  <a:srgbClr val="5F6670"/>
                </a:solidFill>
                <a:latin typeface="Arial"/>
                <a:ea typeface="Arial"/>
                <a:cs typeface="Arial"/>
              </a:rPr>
              <a:t>3</a:t>
            </a:r>
          </a:p>
        </p:txBody>
      </p:sp>
      <p:cxnSp>
        <p:nvCxnSpPr>
          <p:cNvPr id="36" name=""/>
          <p:cNvCxnSpPr/>
          <p:nvPr/>
        </p:nvCxnSpPr>
        <p:spPr>
          <a:xfrm xmlns:a="http://schemas.openxmlformats.org/drawingml/2006/main">
            <a:off x="1771650" y="3333750"/>
            <a:ext cx="504825" cy="0"/>
          </a:xfrm>
          <a:prstGeom xmlns:a="http://schemas.openxmlformats.org/drawingml/2006/main" prst="straightConnector1">
            <a:avLst/>
          </a:prstGeom>
          <a:ln xmlns:a="http://schemas.openxmlformats.org/drawingml/2006/main" w="28575">
            <a:solidFill>
              <a:srgbClr val="3D8DFF"/>
            </a:solidFill>
            <a:prstDash val="solid"/>
          </a:ln>
        </p:spPr>
      </p:cxnSp>
      <p:cxnSp>
        <p:nvCxnSpPr>
          <p:cNvPr id="37" name=""/>
          <p:cNvCxnSpPr/>
          <p:nvPr/>
        </p:nvCxnSpPr>
        <p:spPr>
          <a:xfrm xmlns:a="http://schemas.openxmlformats.org/drawingml/2006/main">
            <a:off x="3724275" y="3333750"/>
            <a:ext cx="504825" cy="0"/>
          </a:xfrm>
          <a:prstGeom xmlns:a="http://schemas.openxmlformats.org/drawingml/2006/main" prst="straightConnector1">
            <a:avLst/>
          </a:prstGeom>
          <a:ln xmlns:a="http://schemas.openxmlformats.org/drawingml/2006/main" w="28575">
            <a:solidFill>
              <a:srgbClr val="3D8DFF"/>
            </a:solidFill>
            <a:prstDash val="solid"/>
          </a:ln>
        </p:spPr>
      </p:cxnSp>
      <p:cxnSp>
        <p:nvCxnSpPr>
          <p:cNvPr id="38" name=""/>
          <p:cNvCxnSpPr/>
          <p:nvPr/>
        </p:nvCxnSpPr>
        <p:spPr>
          <a:xfrm xmlns:a="http://schemas.openxmlformats.org/drawingml/2006/main">
            <a:off x="5676900" y="3333750"/>
            <a:ext cx="504825" cy="0"/>
          </a:xfrm>
          <a:prstGeom xmlns:a="http://schemas.openxmlformats.org/drawingml/2006/main" prst="straightConnector1">
            <a:avLst/>
          </a:prstGeom>
          <a:ln xmlns:a="http://schemas.openxmlformats.org/drawingml/2006/main" w="28575">
            <a:solidFill>
              <a:srgbClr val="3D8DFF"/>
            </a:solidFill>
            <a:prstDash val="solid"/>
          </a:ln>
        </p:spPr>
      </p:cxnSp>
      <p:cxnSp>
        <p:nvCxnSpPr>
          <p:cNvPr id="39" name=""/>
          <p:cNvCxnSpPr/>
          <p:nvPr/>
        </p:nvCxnSpPr>
        <p:spPr>
          <a:xfrm xmlns:a="http://schemas.openxmlformats.org/drawingml/2006/main">
            <a:off x="7629525" y="3333750"/>
            <a:ext cx="504825" cy="0"/>
          </a:xfrm>
          <a:prstGeom xmlns:a="http://schemas.openxmlformats.org/drawingml/2006/main" prst="straightConnector1">
            <a:avLst/>
          </a:prstGeom>
          <a:ln xmlns:a="http://schemas.openxmlformats.org/drawingml/2006/main" w="28575">
            <a:solidFill>
              <a:srgbClr val="3D8DFF"/>
            </a:solidFill>
            <a:prstDash val="solid"/>
          </a:ln>
        </p:spPr>
      </p:cxnSp>
      <p:cxnSp>
        <p:nvCxnSpPr>
          <p:cNvPr id="40" name=""/>
          <p:cNvCxnSpPr/>
          <p:nvPr/>
        </p:nvCxnSpPr>
        <p:spPr>
          <a:xfrm xmlns:a="http://schemas.openxmlformats.org/drawingml/2006/main">
            <a:off x="9582150" y="3333750"/>
            <a:ext cx="504825" cy="0"/>
          </a:xfrm>
          <a:prstGeom xmlns:a="http://schemas.openxmlformats.org/drawingml/2006/main" prst="straightConnector1">
            <a:avLst/>
          </a:prstGeom>
          <a:ln xmlns:a="http://schemas.openxmlformats.org/drawingml/2006/main" w="28575">
            <a:solidFill>
              <a:srgbClr val="3D8DFF"/>
            </a:solidFill>
            <a:prstDash val="solid"/>
          </a:ln>
        </p:spPr>
      </p:cxnSp>
      <p:sp>
        <p:nvSpPr>
          <p:cNvPr id="8" name="">
            <a:extLst xmlns:a="http://schemas.openxmlformats.org/drawingml/2006/main">
              <a:ext uri="{FF2B5EF4-FFF2-40B4-BE49-F238E27FC236}">
                <a16:creationId xmlns:a16="http://schemas.microsoft.com/office/drawing/2014/main" id="{B435E7F1-FF48-4695-8BAF-2FE81B78EF6E}"/>
              </a:ext>
            </a:extLst>
          </p:cNvPr>
          <p:cNvSpPr>
            <a:spLocks xmlns:a="http://schemas.openxmlformats.org/drawingml/2006/main" noGrp="1"/>
          </p:cNvSpPr>
          <p:nvPr/>
        </p:nvSpPr>
        <p:spPr>
          <a:xfrm xmlns:a="http://schemas.openxmlformats.org/drawingml/2006/main">
            <a:off x="323850" y="2333625"/>
            <a:ext cx="1447800" cy="20002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9" name="step-number-0">
            <a:extLst xmlns:a="http://schemas.openxmlformats.org/drawingml/2006/main">
              <a:ext uri="{FF2B5EF4-FFF2-40B4-BE49-F238E27FC236}">
                <a16:creationId xmlns:a16="http://schemas.microsoft.com/office/drawing/2014/main" id="{C0094D6D-AA41-4B57-B85A-7FE93B4F56E8}"/>
              </a:ext>
            </a:extLst>
          </p:cNvPr>
          <p:cNvSpPr>
            <a:spLocks xmlns:a="http://schemas.openxmlformats.org/drawingml/2006/main" noGrp="1"/>
          </p:cNvSpPr>
          <p:nvPr/>
        </p:nvSpPr>
        <p:spPr>
          <a:xfrm xmlns:a="http://schemas.openxmlformats.org/drawingml/2006/main">
            <a:off x="476250" y="247650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3D8DFF"/>
                </a:solidFill>
                <a:latin typeface="Arial"/>
                <a:ea typeface="Arial"/>
                <a:cs typeface="Arial"/>
              </a:defRPr>
            </a:pPr>
            <a:r>
              <a:rPr sz="1275" b="1">
                <a:solidFill>
                  <a:srgbClr val="3D8DFF"/>
                </a:solidFill>
                <a:latin typeface="Arial"/>
                <a:ea typeface="Arial"/>
                <a:cs typeface="Arial"/>
              </a:rPr>
              <a:t>01</a:t>
            </a:r>
          </a:p>
        </p:txBody>
      </p:sp>
      <p:sp>
        <p:nvSpPr>
          <p:cNvPr id="10" name="step-title-0">
            <a:extLst xmlns:a="http://schemas.openxmlformats.org/drawingml/2006/main">
              <a:ext uri="{FF2B5EF4-FFF2-40B4-BE49-F238E27FC236}">
                <a16:creationId xmlns:a16="http://schemas.microsoft.com/office/drawing/2014/main" id="{63937ED2-F732-4D07-BADF-DCB55EC0312E}"/>
              </a:ext>
            </a:extLst>
          </p:cNvPr>
          <p:cNvSpPr>
            <a:spLocks xmlns:a="http://schemas.openxmlformats.org/drawingml/2006/main" noGrp="1"/>
          </p:cNvSpPr>
          <p:nvPr/>
        </p:nvSpPr>
        <p:spPr>
          <a:xfrm xmlns:a="http://schemas.openxmlformats.org/drawingml/2006/main">
            <a:off x="476250" y="2905125"/>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575" b="1">
                <a:solidFill>
                  <a:srgbClr val="000000"/>
                </a:solidFill>
                <a:latin typeface="Arial"/>
                <a:ea typeface="Arial"/>
                <a:cs typeface="Arial"/>
              </a:defRPr>
            </a:pPr>
            <a:r>
              <a:rPr sz="1575" b="1">
                <a:solidFill>
                  <a:srgbClr val="000000"/>
                </a:solidFill>
                <a:latin typeface="Arial"/>
                <a:ea typeface="Arial"/>
                <a:cs typeface="Arial"/>
              </a:rPr>
              <a:t>Raw logs</a:t>
            </a:r>
          </a:p>
        </p:txBody>
      </p:sp>
      <p:sp>
        <p:nvSpPr>
          <p:cNvPr id="11" name="step-detail-0">
            <a:extLst xmlns:a="http://schemas.openxmlformats.org/drawingml/2006/main">
              <a:ext uri="{FF2B5EF4-FFF2-40B4-BE49-F238E27FC236}">
                <a16:creationId xmlns:a16="http://schemas.microsoft.com/office/drawing/2014/main" id="{A8B15C1F-3FFB-4E5D-A5D6-C5C7255E2117}"/>
              </a:ext>
            </a:extLst>
          </p:cNvPr>
          <p:cNvSpPr>
            <a:spLocks xmlns:a="http://schemas.openxmlformats.org/drawingml/2006/main" noGrp="1"/>
          </p:cNvSpPr>
          <p:nvPr/>
        </p:nvSpPr>
        <p:spPr>
          <a:xfrm xmlns:a="http://schemas.openxmlformats.org/drawingml/2006/main">
            <a:off x="476250" y="3476625"/>
            <a:ext cx="114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200">
                <a:solidFill>
                  <a:srgbClr val="5F6670"/>
                </a:solidFill>
                <a:latin typeface="Arial"/>
                <a:ea typeface="Arial"/>
                <a:cs typeface="Arial"/>
              </a:defRPr>
            </a:pPr>
            <a:r>
              <a:rPr sz="1200">
                <a:solidFill>
                  <a:srgbClr val="5F6670"/>
                </a:solidFill>
                <a:latin typeface="Arial"/>
                <a:ea typeface="Arial"/>
                <a:cs typeface="Arial"/>
              </a:rPr>
              <a:t>2.19M</a:t>
            </a:r>
          </a:p>
          <a:p xmlns:a="http://schemas.openxmlformats.org/drawingml/2006/main">
            <a:pPr>
              <a:defRPr sz="1200">
                <a:solidFill>
                  <a:srgbClr val="5F6670"/>
                </a:solidFill>
                <a:latin typeface="Arial"/>
                <a:ea typeface="Arial"/>
                <a:cs typeface="Arial"/>
              </a:defRPr>
            </a:pPr>
            <a:r>
              <a:rPr sz="1200">
                <a:solidFill>
                  <a:srgbClr val="5F6670"/>
                </a:solidFill>
                <a:latin typeface="Arial"/>
                <a:ea typeface="Arial"/>
                <a:cs typeface="Arial"/>
              </a:rPr>
              <a:t>attempts</a:t>
            </a:r>
          </a:p>
        </p:txBody>
      </p:sp>
      <p:sp>
        <p:nvSpPr>
          <p:cNvPr id="12" name="">
            <a:extLst xmlns:a="http://schemas.openxmlformats.org/drawingml/2006/main">
              <a:ext uri="{FF2B5EF4-FFF2-40B4-BE49-F238E27FC236}">
                <a16:creationId xmlns:a16="http://schemas.microsoft.com/office/drawing/2014/main" id="{C83079EF-08EC-45BE-BB0A-F2C21DC1A40A}"/>
              </a:ext>
            </a:extLst>
          </p:cNvPr>
          <p:cNvSpPr>
            <a:spLocks xmlns:a="http://schemas.openxmlformats.org/drawingml/2006/main" noGrp="1"/>
          </p:cNvSpPr>
          <p:nvPr/>
        </p:nvSpPr>
        <p:spPr>
          <a:xfrm xmlns:a="http://schemas.openxmlformats.org/drawingml/2006/main">
            <a:off x="2276475" y="2333625"/>
            <a:ext cx="1447800" cy="20002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3" name="step-number-1">
            <a:extLst xmlns:a="http://schemas.openxmlformats.org/drawingml/2006/main">
              <a:ext uri="{FF2B5EF4-FFF2-40B4-BE49-F238E27FC236}">
                <a16:creationId xmlns:a16="http://schemas.microsoft.com/office/drawing/2014/main" id="{325DB081-24CF-47AE-AD7B-8DBF5B7DEEAD}"/>
              </a:ext>
            </a:extLst>
          </p:cNvPr>
          <p:cNvSpPr>
            <a:spLocks xmlns:a="http://schemas.openxmlformats.org/drawingml/2006/main" noGrp="1"/>
          </p:cNvSpPr>
          <p:nvPr/>
        </p:nvSpPr>
        <p:spPr>
          <a:xfrm xmlns:a="http://schemas.openxmlformats.org/drawingml/2006/main">
            <a:off x="2428875" y="247650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3D8DFF"/>
                </a:solidFill>
                <a:latin typeface="Arial"/>
                <a:ea typeface="Arial"/>
                <a:cs typeface="Arial"/>
              </a:defRPr>
            </a:pPr>
            <a:r>
              <a:rPr sz="1275" b="1">
                <a:solidFill>
                  <a:srgbClr val="3D8DFF"/>
                </a:solidFill>
                <a:latin typeface="Arial"/>
                <a:ea typeface="Arial"/>
                <a:cs typeface="Arial"/>
              </a:rPr>
              <a:t>02</a:t>
            </a:r>
          </a:p>
        </p:txBody>
      </p:sp>
      <p:sp>
        <p:nvSpPr>
          <p:cNvPr id="14" name="step-title-1">
            <a:extLst xmlns:a="http://schemas.openxmlformats.org/drawingml/2006/main">
              <a:ext uri="{FF2B5EF4-FFF2-40B4-BE49-F238E27FC236}">
                <a16:creationId xmlns:a16="http://schemas.microsoft.com/office/drawing/2014/main" id="{A86D3B4C-46F6-438E-9822-C3A5BD38997B}"/>
              </a:ext>
            </a:extLst>
          </p:cNvPr>
          <p:cNvSpPr>
            <a:spLocks xmlns:a="http://schemas.openxmlformats.org/drawingml/2006/main" noGrp="1"/>
          </p:cNvSpPr>
          <p:nvPr/>
        </p:nvSpPr>
        <p:spPr>
          <a:xfrm xmlns:a="http://schemas.openxmlformats.org/drawingml/2006/main">
            <a:off x="2428875" y="2905125"/>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926"/>
          </a:bodyPr>
          <a:lstStyle xmlns:a="http://schemas.openxmlformats.org/drawingml/2006/main"/>
          <a:p xmlns:a="http://schemas.openxmlformats.org/drawingml/2006/main">
            <a:pPr>
              <a:defRPr sz="1575" b="1">
                <a:solidFill>
                  <a:srgbClr val="000000"/>
                </a:solidFill>
                <a:latin typeface="Arial"/>
                <a:ea typeface="Arial"/>
                <a:cs typeface="Arial"/>
              </a:defRPr>
            </a:pPr>
            <a:r>
              <a:rPr sz="1575" b="1">
                <a:solidFill>
                  <a:srgbClr val="000000"/>
                </a:solidFill>
                <a:latin typeface="Arial"/>
                <a:ea typeface="Arial"/>
                <a:cs typeface="Arial"/>
              </a:rPr>
              <a:t>Clean + join</a:t>
            </a:r>
          </a:p>
        </p:txBody>
      </p:sp>
      <p:sp>
        <p:nvSpPr>
          <p:cNvPr id="15" name="step-detail-1">
            <a:extLst xmlns:a="http://schemas.openxmlformats.org/drawingml/2006/main">
              <a:ext uri="{FF2B5EF4-FFF2-40B4-BE49-F238E27FC236}">
                <a16:creationId xmlns:a16="http://schemas.microsoft.com/office/drawing/2014/main" id="{14ACBF3B-E2E9-4C5B-BD53-F47975986D61}"/>
              </a:ext>
            </a:extLst>
          </p:cNvPr>
          <p:cNvSpPr>
            <a:spLocks xmlns:a="http://schemas.openxmlformats.org/drawingml/2006/main" noGrp="1"/>
          </p:cNvSpPr>
          <p:nvPr/>
        </p:nvSpPr>
        <p:spPr>
          <a:xfrm xmlns:a="http://schemas.openxmlformats.org/drawingml/2006/main">
            <a:off x="2428875" y="3476625"/>
            <a:ext cx="114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200">
                <a:solidFill>
                  <a:srgbClr val="5F6670"/>
                </a:solidFill>
                <a:latin typeface="Arial"/>
                <a:ea typeface="Arial"/>
                <a:cs typeface="Arial"/>
              </a:defRPr>
            </a:pPr>
            <a:r>
              <a:rPr sz="1200">
                <a:solidFill>
                  <a:srgbClr val="5F6670"/>
                </a:solidFill>
                <a:latin typeface="Arial"/>
                <a:ea typeface="Arial"/>
                <a:cs typeface="Arial"/>
              </a:rPr>
              <a:t>TSV parsing</a:t>
            </a:r>
          </a:p>
          <a:p xmlns:a="http://schemas.openxmlformats.org/drawingml/2006/main">
            <a:pPr>
              <a:defRPr sz="1200">
                <a:solidFill>
                  <a:srgbClr val="5F6670"/>
                </a:solidFill>
                <a:latin typeface="Arial"/>
                <a:ea typeface="Arial"/>
                <a:cs typeface="Arial"/>
              </a:defRPr>
            </a:pPr>
            <a:r>
              <a:rPr sz="1200">
                <a:solidFill>
                  <a:srgbClr val="5F6670"/>
                </a:solidFill>
                <a:latin typeface="Arial"/>
                <a:ea typeface="Arial"/>
                <a:cs typeface="Arial"/>
              </a:rPr>
              <a:t>metadata join</a:t>
            </a:r>
          </a:p>
        </p:txBody>
      </p:sp>
      <p:sp>
        <p:nvSpPr>
          <p:cNvPr id="16" name="">
            <a:extLst xmlns:a="http://schemas.openxmlformats.org/drawingml/2006/main">
              <a:ext uri="{FF2B5EF4-FFF2-40B4-BE49-F238E27FC236}">
                <a16:creationId xmlns:a16="http://schemas.microsoft.com/office/drawing/2014/main" id="{1E69EB0E-A422-47C5-88F1-6C2DF0F9CEC6}"/>
              </a:ext>
            </a:extLst>
          </p:cNvPr>
          <p:cNvSpPr>
            <a:spLocks xmlns:a="http://schemas.openxmlformats.org/drawingml/2006/main" noGrp="1"/>
          </p:cNvSpPr>
          <p:nvPr/>
        </p:nvSpPr>
        <p:spPr>
          <a:xfrm xmlns:a="http://schemas.openxmlformats.org/drawingml/2006/main">
            <a:off x="4229100" y="2333625"/>
            <a:ext cx="1447800" cy="20002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7" name="step-number-2">
            <a:extLst xmlns:a="http://schemas.openxmlformats.org/drawingml/2006/main">
              <a:ext uri="{FF2B5EF4-FFF2-40B4-BE49-F238E27FC236}">
                <a16:creationId xmlns:a16="http://schemas.microsoft.com/office/drawing/2014/main" id="{7FD8F60D-B82F-45E8-9D2D-6B7DBB669299}"/>
              </a:ext>
            </a:extLst>
          </p:cNvPr>
          <p:cNvSpPr>
            <a:spLocks xmlns:a="http://schemas.openxmlformats.org/drawingml/2006/main" noGrp="1"/>
          </p:cNvSpPr>
          <p:nvPr/>
        </p:nvSpPr>
        <p:spPr>
          <a:xfrm xmlns:a="http://schemas.openxmlformats.org/drawingml/2006/main">
            <a:off x="4381500" y="247650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3D8DFF"/>
                </a:solidFill>
                <a:latin typeface="Arial"/>
                <a:ea typeface="Arial"/>
                <a:cs typeface="Arial"/>
              </a:defRPr>
            </a:pPr>
            <a:r>
              <a:rPr sz="1275" b="1">
                <a:solidFill>
                  <a:srgbClr val="3D8DFF"/>
                </a:solidFill>
                <a:latin typeface="Arial"/>
                <a:ea typeface="Arial"/>
                <a:cs typeface="Arial"/>
              </a:rPr>
              <a:t>03</a:t>
            </a:r>
          </a:p>
        </p:txBody>
      </p:sp>
      <p:sp>
        <p:nvSpPr>
          <p:cNvPr id="18" name="step-title-2">
            <a:extLst xmlns:a="http://schemas.openxmlformats.org/drawingml/2006/main">
              <a:ext uri="{FF2B5EF4-FFF2-40B4-BE49-F238E27FC236}">
                <a16:creationId xmlns:a16="http://schemas.microsoft.com/office/drawing/2014/main" id="{3A4B5A3C-D6CF-4BBB-BA4D-C17DF5F145F5}"/>
              </a:ext>
            </a:extLst>
          </p:cNvPr>
          <p:cNvSpPr>
            <a:spLocks xmlns:a="http://schemas.openxmlformats.org/drawingml/2006/main" noGrp="1"/>
          </p:cNvSpPr>
          <p:nvPr/>
        </p:nvSpPr>
        <p:spPr>
          <a:xfrm xmlns:a="http://schemas.openxmlformats.org/drawingml/2006/main">
            <a:off x="4381500" y="2905125"/>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12"/>
          </a:bodyPr>
          <a:lstStyle xmlns:a="http://schemas.openxmlformats.org/drawingml/2006/main"/>
          <a:p xmlns:a="http://schemas.openxmlformats.org/drawingml/2006/main">
            <a:pPr>
              <a:defRPr sz="1575" b="1">
                <a:solidFill>
                  <a:srgbClr val="000000"/>
                </a:solidFill>
                <a:latin typeface="Arial"/>
                <a:ea typeface="Arial"/>
                <a:cs typeface="Arial"/>
              </a:defRPr>
            </a:pPr>
            <a:r>
              <a:rPr sz="1575" b="1">
                <a:solidFill>
                  <a:srgbClr val="000000"/>
                </a:solidFill>
                <a:latin typeface="Arial"/>
                <a:ea typeface="Arial"/>
                <a:cs typeface="Arial"/>
              </a:rPr>
              <a:t>Aggregate</a:t>
            </a:r>
          </a:p>
        </p:txBody>
      </p:sp>
      <p:sp>
        <p:nvSpPr>
          <p:cNvPr id="19" name="step-detail-2">
            <a:extLst xmlns:a="http://schemas.openxmlformats.org/drawingml/2006/main">
              <a:ext uri="{FF2B5EF4-FFF2-40B4-BE49-F238E27FC236}">
                <a16:creationId xmlns:a16="http://schemas.microsoft.com/office/drawing/2014/main" id="{D13BEF5D-E14D-41CB-B78A-E714D0CFEFA7}"/>
              </a:ext>
            </a:extLst>
          </p:cNvPr>
          <p:cNvSpPr>
            <a:spLocks xmlns:a="http://schemas.openxmlformats.org/drawingml/2006/main" noGrp="1"/>
          </p:cNvSpPr>
          <p:nvPr/>
        </p:nvSpPr>
        <p:spPr>
          <a:xfrm xmlns:a="http://schemas.openxmlformats.org/drawingml/2006/main">
            <a:off x="4381500" y="3476625"/>
            <a:ext cx="114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200">
                <a:solidFill>
                  <a:srgbClr val="5F6670"/>
                </a:solidFill>
                <a:latin typeface="Arial"/>
                <a:ea typeface="Arial"/>
                <a:cs typeface="Arial"/>
              </a:defRPr>
            </a:pPr>
            <a:r>
              <a:rPr sz="1200">
                <a:solidFill>
                  <a:srgbClr val="5F6670"/>
                </a:solidFill>
                <a:latin typeface="Arial"/>
                <a:ea typeface="Arial"/>
                <a:cs typeface="Arial"/>
              </a:rPr>
              <a:t>41 player</a:t>
            </a:r>
          </a:p>
          <a:p xmlns:a="http://schemas.openxmlformats.org/drawingml/2006/main">
            <a:pPr>
              <a:defRPr sz="1200">
                <a:solidFill>
                  <a:srgbClr val="5F6670"/>
                </a:solidFill>
                <a:latin typeface="Arial"/>
                <a:ea typeface="Arial"/>
                <a:cs typeface="Arial"/>
              </a:defRPr>
            </a:pPr>
            <a:r>
              <a:rPr sz="1200">
                <a:solidFill>
                  <a:srgbClr val="5F6670"/>
                </a:solidFill>
                <a:latin typeface="Arial"/>
                <a:ea typeface="Arial"/>
                <a:cs typeface="Arial"/>
              </a:rPr>
              <a:t>features</a:t>
            </a:r>
          </a:p>
        </p:txBody>
      </p:sp>
      <p:sp>
        <p:nvSpPr>
          <p:cNvPr id="20" name="">
            <a:extLst xmlns:a="http://schemas.openxmlformats.org/drawingml/2006/main">
              <a:ext uri="{FF2B5EF4-FFF2-40B4-BE49-F238E27FC236}">
                <a16:creationId xmlns:a16="http://schemas.microsoft.com/office/drawing/2014/main" id="{55DE13C5-5D73-4E9A-9613-5BAF4FE4512C}"/>
              </a:ext>
            </a:extLst>
          </p:cNvPr>
          <p:cNvSpPr>
            <a:spLocks xmlns:a="http://schemas.openxmlformats.org/drawingml/2006/main" noGrp="1"/>
          </p:cNvSpPr>
          <p:nvPr/>
        </p:nvSpPr>
        <p:spPr>
          <a:xfrm xmlns:a="http://schemas.openxmlformats.org/drawingml/2006/main">
            <a:off x="6181725" y="2333625"/>
            <a:ext cx="1447800" cy="20002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21" name="step-number-3">
            <a:extLst xmlns:a="http://schemas.openxmlformats.org/drawingml/2006/main">
              <a:ext uri="{FF2B5EF4-FFF2-40B4-BE49-F238E27FC236}">
                <a16:creationId xmlns:a16="http://schemas.microsoft.com/office/drawing/2014/main" id="{459D6A85-39A8-4C78-94F9-87E4F4BDD157}"/>
              </a:ext>
            </a:extLst>
          </p:cNvPr>
          <p:cNvSpPr>
            <a:spLocks xmlns:a="http://schemas.openxmlformats.org/drawingml/2006/main" noGrp="1"/>
          </p:cNvSpPr>
          <p:nvPr/>
        </p:nvSpPr>
        <p:spPr>
          <a:xfrm xmlns:a="http://schemas.openxmlformats.org/drawingml/2006/main">
            <a:off x="6334125" y="247650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3D8DFF"/>
                </a:solidFill>
                <a:latin typeface="Arial"/>
                <a:ea typeface="Arial"/>
                <a:cs typeface="Arial"/>
              </a:defRPr>
            </a:pPr>
            <a:r>
              <a:rPr sz="1275" b="1">
                <a:solidFill>
                  <a:srgbClr val="3D8DFF"/>
                </a:solidFill>
                <a:latin typeface="Arial"/>
                <a:ea typeface="Arial"/>
                <a:cs typeface="Arial"/>
              </a:rPr>
              <a:t>04</a:t>
            </a:r>
          </a:p>
        </p:txBody>
      </p:sp>
      <p:sp>
        <p:nvSpPr>
          <p:cNvPr id="22" name="step-title-3">
            <a:extLst xmlns:a="http://schemas.openxmlformats.org/drawingml/2006/main">
              <a:ext uri="{FF2B5EF4-FFF2-40B4-BE49-F238E27FC236}">
                <a16:creationId xmlns:a16="http://schemas.microsoft.com/office/drawing/2014/main" id="{D296D98C-CAA6-45B6-B04F-AAF4CA8846D8}"/>
              </a:ext>
            </a:extLst>
          </p:cNvPr>
          <p:cNvSpPr>
            <a:spLocks xmlns:a="http://schemas.openxmlformats.org/drawingml/2006/main" noGrp="1"/>
          </p:cNvSpPr>
          <p:nvPr/>
        </p:nvSpPr>
        <p:spPr>
          <a:xfrm xmlns:a="http://schemas.openxmlformats.org/drawingml/2006/main">
            <a:off x="6334125" y="2905125"/>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575" b="1">
                <a:solidFill>
                  <a:srgbClr val="000000"/>
                </a:solidFill>
                <a:latin typeface="Arial"/>
                <a:ea typeface="Arial"/>
                <a:cs typeface="Arial"/>
              </a:defRPr>
            </a:pPr>
            <a:r>
              <a:rPr sz="1575" b="1">
                <a:solidFill>
                  <a:srgbClr val="000000"/>
                </a:solidFill>
                <a:latin typeface="Arial"/>
                <a:ea typeface="Arial"/>
                <a:cs typeface="Arial"/>
              </a:rPr>
              <a:t>Tune</a:t>
            </a:r>
          </a:p>
        </p:txBody>
      </p:sp>
      <p:sp>
        <p:nvSpPr>
          <p:cNvPr id="23" name="step-detail-3">
            <a:extLst xmlns:a="http://schemas.openxmlformats.org/drawingml/2006/main">
              <a:ext uri="{FF2B5EF4-FFF2-40B4-BE49-F238E27FC236}">
                <a16:creationId xmlns:a16="http://schemas.microsoft.com/office/drawing/2014/main" id="{1691D203-ED8E-44F0-8340-8D2F4F65B9D1}"/>
              </a:ext>
            </a:extLst>
          </p:cNvPr>
          <p:cNvSpPr>
            <a:spLocks xmlns:a="http://schemas.openxmlformats.org/drawingml/2006/main" noGrp="1"/>
          </p:cNvSpPr>
          <p:nvPr/>
        </p:nvSpPr>
        <p:spPr>
          <a:xfrm xmlns:a="http://schemas.openxmlformats.org/drawingml/2006/main">
            <a:off x="6334125" y="3476625"/>
            <a:ext cx="114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200">
                <a:solidFill>
                  <a:srgbClr val="5F6670"/>
                </a:solidFill>
                <a:latin typeface="Arial"/>
                <a:ea typeface="Arial"/>
                <a:cs typeface="Arial"/>
              </a:defRPr>
            </a:pPr>
            <a:r>
              <a:rPr sz="1200">
                <a:solidFill>
                  <a:srgbClr val="5F6670"/>
                </a:solidFill>
                <a:latin typeface="Arial"/>
                <a:ea typeface="Arial"/>
                <a:cs typeface="Arial"/>
              </a:rPr>
              <a:t>4 models</a:t>
            </a:r>
          </a:p>
          <a:p xmlns:a="http://schemas.openxmlformats.org/drawingml/2006/main">
            <a:pPr>
              <a:defRPr sz="1200">
                <a:solidFill>
                  <a:srgbClr val="5F6670"/>
                </a:solidFill>
                <a:latin typeface="Arial"/>
                <a:ea typeface="Arial"/>
                <a:cs typeface="Arial"/>
              </a:defRPr>
            </a:pPr>
            <a:r>
              <a:rPr sz="1200">
                <a:solidFill>
                  <a:srgbClr val="5F6670"/>
                </a:solidFill>
                <a:latin typeface="Arial"/>
                <a:ea typeface="Arial"/>
                <a:cs typeface="Arial"/>
              </a:rPr>
              <a:t>5-fold CV</a:t>
            </a:r>
          </a:p>
        </p:txBody>
      </p:sp>
      <p:sp>
        <p:nvSpPr>
          <p:cNvPr id="24" name="">
            <a:extLst xmlns:a="http://schemas.openxmlformats.org/drawingml/2006/main">
              <a:ext uri="{FF2B5EF4-FFF2-40B4-BE49-F238E27FC236}">
                <a16:creationId xmlns:a16="http://schemas.microsoft.com/office/drawing/2014/main" id="{83DEDCD1-3A6F-4BC9-B1BE-5D90B1AD7AEE}"/>
              </a:ext>
            </a:extLst>
          </p:cNvPr>
          <p:cNvSpPr>
            <a:spLocks xmlns:a="http://schemas.openxmlformats.org/drawingml/2006/main" noGrp="1"/>
          </p:cNvSpPr>
          <p:nvPr/>
        </p:nvSpPr>
        <p:spPr>
          <a:xfrm xmlns:a="http://schemas.openxmlformats.org/drawingml/2006/main">
            <a:off x="8134350" y="2333625"/>
            <a:ext cx="1447800" cy="20002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25" name="step-number-4">
            <a:extLst xmlns:a="http://schemas.openxmlformats.org/drawingml/2006/main">
              <a:ext uri="{FF2B5EF4-FFF2-40B4-BE49-F238E27FC236}">
                <a16:creationId xmlns:a16="http://schemas.microsoft.com/office/drawing/2014/main" id="{B8C96C97-A80E-4CEC-86CD-8D8A97F25CC0}"/>
              </a:ext>
            </a:extLst>
          </p:cNvPr>
          <p:cNvSpPr>
            <a:spLocks xmlns:a="http://schemas.openxmlformats.org/drawingml/2006/main" noGrp="1"/>
          </p:cNvSpPr>
          <p:nvPr/>
        </p:nvSpPr>
        <p:spPr>
          <a:xfrm xmlns:a="http://schemas.openxmlformats.org/drawingml/2006/main">
            <a:off x="8286750" y="247650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3D8DFF"/>
                </a:solidFill>
                <a:latin typeface="Arial"/>
                <a:ea typeface="Arial"/>
                <a:cs typeface="Arial"/>
              </a:defRPr>
            </a:pPr>
            <a:r>
              <a:rPr sz="1275" b="1">
                <a:solidFill>
                  <a:srgbClr val="3D8DFF"/>
                </a:solidFill>
                <a:latin typeface="Arial"/>
                <a:ea typeface="Arial"/>
                <a:cs typeface="Arial"/>
              </a:rPr>
              <a:t>05</a:t>
            </a:r>
          </a:p>
        </p:txBody>
      </p:sp>
      <p:sp>
        <p:nvSpPr>
          <p:cNvPr id="26" name="step-title-4">
            <a:extLst xmlns:a="http://schemas.openxmlformats.org/drawingml/2006/main">
              <a:ext uri="{FF2B5EF4-FFF2-40B4-BE49-F238E27FC236}">
                <a16:creationId xmlns:a16="http://schemas.microsoft.com/office/drawing/2014/main" id="{85A62C9B-E763-43FC-81AB-8CD0E9D366F1}"/>
              </a:ext>
            </a:extLst>
          </p:cNvPr>
          <p:cNvSpPr>
            <a:spLocks xmlns:a="http://schemas.openxmlformats.org/drawingml/2006/main" noGrp="1"/>
          </p:cNvSpPr>
          <p:nvPr/>
        </p:nvSpPr>
        <p:spPr>
          <a:xfrm xmlns:a="http://schemas.openxmlformats.org/drawingml/2006/main">
            <a:off x="8286750" y="2905125"/>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575" b="1">
                <a:solidFill>
                  <a:srgbClr val="000000"/>
                </a:solidFill>
                <a:latin typeface="Arial"/>
                <a:ea typeface="Arial"/>
                <a:cs typeface="Arial"/>
              </a:defRPr>
            </a:pPr>
            <a:r>
              <a:rPr sz="1575" b="1">
                <a:solidFill>
                  <a:srgbClr val="000000"/>
                </a:solidFill>
                <a:latin typeface="Arial"/>
                <a:ea typeface="Arial"/>
                <a:cs typeface="Arial"/>
              </a:rPr>
              <a:t>Select</a:t>
            </a:r>
          </a:p>
        </p:txBody>
      </p:sp>
      <p:sp>
        <p:nvSpPr>
          <p:cNvPr id="27" name="step-detail-4">
            <a:extLst xmlns:a="http://schemas.openxmlformats.org/drawingml/2006/main">
              <a:ext uri="{FF2B5EF4-FFF2-40B4-BE49-F238E27FC236}">
                <a16:creationId xmlns:a16="http://schemas.microsoft.com/office/drawing/2014/main" id="{7878CE02-AACB-4795-8052-7D1590BA257A}"/>
              </a:ext>
            </a:extLst>
          </p:cNvPr>
          <p:cNvSpPr>
            <a:spLocks xmlns:a="http://schemas.openxmlformats.org/drawingml/2006/main" noGrp="1"/>
          </p:cNvSpPr>
          <p:nvPr/>
        </p:nvSpPr>
        <p:spPr>
          <a:xfrm xmlns:a="http://schemas.openxmlformats.org/drawingml/2006/main">
            <a:off x="8286750" y="3476625"/>
            <a:ext cx="114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78"/>
          </a:bodyPr>
          <a:lstStyle xmlns:a="http://schemas.openxmlformats.org/drawingml/2006/main"/>
          <a:p xmlns:a="http://schemas.openxmlformats.org/drawingml/2006/main">
            <a:pPr>
              <a:defRPr sz="1200">
                <a:solidFill>
                  <a:srgbClr val="5F6670"/>
                </a:solidFill>
                <a:latin typeface="Arial"/>
                <a:ea typeface="Arial"/>
                <a:cs typeface="Arial"/>
              </a:defRPr>
            </a:pPr>
            <a:r>
              <a:rPr sz="1200">
                <a:solidFill>
                  <a:srgbClr val="5F6670"/>
                </a:solidFill>
                <a:latin typeface="Arial"/>
                <a:ea typeface="Arial"/>
                <a:cs typeface="Arial"/>
              </a:rPr>
              <a:t>CV AUROC</a:t>
            </a:r>
          </a:p>
          <a:p xmlns:a="http://schemas.openxmlformats.org/drawingml/2006/main">
            <a:pPr>
              <a:defRPr sz="1200">
                <a:solidFill>
                  <a:srgbClr val="5F6670"/>
                </a:solidFill>
                <a:latin typeface="Arial"/>
                <a:ea typeface="Arial"/>
                <a:cs typeface="Arial"/>
              </a:defRPr>
            </a:pPr>
            <a:r>
              <a:rPr sz="1200">
                <a:solidFill>
                  <a:srgbClr val="5F6670"/>
                </a:solidFill>
                <a:latin typeface="Arial"/>
                <a:ea typeface="Arial"/>
                <a:cs typeface="Arial"/>
              </a:rPr>
              <a:t>OOF threshold</a:t>
            </a:r>
          </a:p>
        </p:txBody>
      </p:sp>
      <p:sp>
        <p:nvSpPr>
          <p:cNvPr id="28" name="">
            <a:extLst xmlns:a="http://schemas.openxmlformats.org/drawingml/2006/main">
              <a:ext uri="{FF2B5EF4-FFF2-40B4-BE49-F238E27FC236}">
                <a16:creationId xmlns:a16="http://schemas.microsoft.com/office/drawing/2014/main" id="{2455E806-B2C2-4944-9F48-6E8E116CB794}"/>
              </a:ext>
            </a:extLst>
          </p:cNvPr>
          <p:cNvSpPr>
            <a:spLocks xmlns:a="http://schemas.openxmlformats.org/drawingml/2006/main" noGrp="1"/>
          </p:cNvSpPr>
          <p:nvPr/>
        </p:nvSpPr>
        <p:spPr>
          <a:xfrm xmlns:a="http://schemas.openxmlformats.org/drawingml/2006/main">
            <a:off x="10086975" y="2333625"/>
            <a:ext cx="1447800" cy="2000250"/>
          </a:xfrm>
          <a:prstGeom xmlns:a="http://schemas.openxmlformats.org/drawingml/2006/main" prst="rect">
            <a:avLst/>
          </a:prstGeom>
          <a:solidFill xmlns:a="http://schemas.openxmlformats.org/drawingml/2006/main">
            <a:srgbClr val="D0EDFA"/>
          </a:solidFill>
          <a:ln xmlns:a="http://schemas.openxmlformats.org/drawingml/2006/main" w="9525">
            <a:solidFill>
              <a:srgbClr val="3D8DFF"/>
            </a:solidFill>
            <a:prstDash val="solid"/>
          </a:ln>
        </p:spPr>
      </p:sp>
      <p:sp>
        <p:nvSpPr>
          <p:cNvPr id="29" name="step-number-5">
            <a:extLst xmlns:a="http://schemas.openxmlformats.org/drawingml/2006/main">
              <a:ext uri="{FF2B5EF4-FFF2-40B4-BE49-F238E27FC236}">
                <a16:creationId xmlns:a16="http://schemas.microsoft.com/office/drawing/2014/main" id="{C21C20B8-C10C-4050-ADE7-35261793A349}"/>
              </a:ext>
            </a:extLst>
          </p:cNvPr>
          <p:cNvSpPr>
            <a:spLocks xmlns:a="http://schemas.openxmlformats.org/drawingml/2006/main" noGrp="1"/>
          </p:cNvSpPr>
          <p:nvPr/>
        </p:nvSpPr>
        <p:spPr>
          <a:xfrm xmlns:a="http://schemas.openxmlformats.org/drawingml/2006/main">
            <a:off x="10239375" y="247650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3D8DFF"/>
                </a:solidFill>
                <a:latin typeface="Arial"/>
                <a:ea typeface="Arial"/>
                <a:cs typeface="Arial"/>
              </a:defRPr>
            </a:pPr>
            <a:r>
              <a:rPr sz="1275" b="1">
                <a:solidFill>
                  <a:srgbClr val="3D8DFF"/>
                </a:solidFill>
                <a:latin typeface="Arial"/>
                <a:ea typeface="Arial"/>
                <a:cs typeface="Arial"/>
              </a:rPr>
              <a:t>06</a:t>
            </a:r>
          </a:p>
        </p:txBody>
      </p:sp>
      <p:sp>
        <p:nvSpPr>
          <p:cNvPr id="30" name="step-title-5">
            <a:extLst xmlns:a="http://schemas.openxmlformats.org/drawingml/2006/main">
              <a:ext uri="{FF2B5EF4-FFF2-40B4-BE49-F238E27FC236}">
                <a16:creationId xmlns:a16="http://schemas.microsoft.com/office/drawing/2014/main" id="{F66B981B-01E6-4FF1-8C4F-CEE6BBF7A040}"/>
              </a:ext>
            </a:extLst>
          </p:cNvPr>
          <p:cNvSpPr>
            <a:spLocks xmlns:a="http://schemas.openxmlformats.org/drawingml/2006/main" noGrp="1"/>
          </p:cNvSpPr>
          <p:nvPr/>
        </p:nvSpPr>
        <p:spPr>
          <a:xfrm xmlns:a="http://schemas.openxmlformats.org/drawingml/2006/main">
            <a:off x="10239375" y="2905125"/>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575" b="1">
                <a:solidFill>
                  <a:srgbClr val="000000"/>
                </a:solidFill>
                <a:latin typeface="Arial"/>
                <a:ea typeface="Arial"/>
                <a:cs typeface="Arial"/>
              </a:defRPr>
            </a:pPr>
            <a:r>
              <a:rPr sz="1575" b="1">
                <a:solidFill>
                  <a:srgbClr val="000000"/>
                </a:solidFill>
                <a:latin typeface="Arial"/>
                <a:ea typeface="Arial"/>
                <a:cs typeface="Arial"/>
              </a:rPr>
              <a:t>Evaluate</a:t>
            </a:r>
          </a:p>
        </p:txBody>
      </p:sp>
      <p:sp>
        <p:nvSpPr>
          <p:cNvPr id="31" name="step-detail-5">
            <a:extLst xmlns:a="http://schemas.openxmlformats.org/drawingml/2006/main">
              <a:ext uri="{FF2B5EF4-FFF2-40B4-BE49-F238E27FC236}">
                <a16:creationId xmlns:a16="http://schemas.microsoft.com/office/drawing/2014/main" id="{C26C7E7C-906B-4DBC-A7C7-D3E65080F022}"/>
              </a:ext>
            </a:extLst>
          </p:cNvPr>
          <p:cNvSpPr>
            <a:spLocks xmlns:a="http://schemas.openxmlformats.org/drawingml/2006/main" noGrp="1"/>
          </p:cNvSpPr>
          <p:nvPr/>
        </p:nvSpPr>
        <p:spPr>
          <a:xfrm xmlns:a="http://schemas.openxmlformats.org/drawingml/2006/main">
            <a:off x="10239375" y="3476625"/>
            <a:ext cx="114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341"/>
          </a:bodyPr>
          <a:lstStyle xmlns:a="http://schemas.openxmlformats.org/drawingml/2006/main"/>
          <a:p xmlns:a="http://schemas.openxmlformats.org/drawingml/2006/main">
            <a:pPr>
              <a:defRPr sz="1200">
                <a:solidFill>
                  <a:srgbClr val="5F6670"/>
                </a:solidFill>
                <a:latin typeface="Arial"/>
                <a:ea typeface="Arial"/>
                <a:cs typeface="Arial"/>
              </a:defRPr>
            </a:pPr>
            <a:r>
              <a:rPr sz="1200">
                <a:solidFill>
                  <a:srgbClr val="5F6670"/>
                </a:solidFill>
                <a:latin typeface="Arial"/>
                <a:ea typeface="Arial"/>
                <a:cs typeface="Arial"/>
              </a:rPr>
              <a:t>Dev holdout</a:t>
            </a:r>
          </a:p>
          <a:p xmlns:a="http://schemas.openxmlformats.org/drawingml/2006/main">
            <a:pPr>
              <a:defRPr sz="1200">
                <a:solidFill>
                  <a:srgbClr val="5F6670"/>
                </a:solidFill>
                <a:latin typeface="Arial"/>
                <a:ea typeface="Arial"/>
                <a:cs typeface="Arial"/>
              </a:defRPr>
            </a:pPr>
            <a:r>
              <a:rPr sz="1200">
                <a:solidFill>
                  <a:srgbClr val="5F6670"/>
                </a:solidFill>
                <a:latin typeface="Arial"/>
                <a:ea typeface="Arial"/>
                <a:cs typeface="Arial"/>
              </a:rPr>
              <a:t>SHAP + errors</a:t>
            </a:r>
          </a:p>
        </p:txBody>
      </p:sp>
      <p:sp>
        <p:nvSpPr>
          <p:cNvPr id="32" name="training-only">
            <a:extLst xmlns:a="http://schemas.openxmlformats.org/drawingml/2006/main">
              <a:ext uri="{FF2B5EF4-FFF2-40B4-BE49-F238E27FC236}">
                <a16:creationId xmlns:a16="http://schemas.microsoft.com/office/drawing/2014/main" id="{DE648888-B62A-47AC-9420-8E3AD1789E1F}"/>
              </a:ext>
            </a:extLst>
          </p:cNvPr>
          <p:cNvSpPr>
            <a:spLocks xmlns:a="http://schemas.openxmlformats.org/drawingml/2006/main" noGrp="1"/>
          </p:cNvSpPr>
          <p:nvPr/>
        </p:nvSpPr>
        <p:spPr>
          <a:xfrm xmlns:a="http://schemas.openxmlformats.org/drawingml/2006/main">
            <a:off x="6191250" y="4667250"/>
            <a:ext cx="3381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3D8DFF"/>
                </a:solidFill>
                <a:latin typeface="Arial"/>
                <a:ea typeface="Arial"/>
                <a:cs typeface="Arial"/>
              </a:defRPr>
            </a:pPr>
            <a:r>
              <a:rPr sz="1350" b="1">
                <a:solidFill>
                  <a:srgbClr val="3D8DFF"/>
                </a:solidFill>
                <a:latin typeface="Arial"/>
                <a:ea typeface="Arial"/>
                <a:cs typeface="Arial"/>
              </a:rPr>
              <a:t>Training only</a:t>
            </a:r>
          </a:p>
        </p:txBody>
      </p:sp>
      <p:sp>
        <p:nvSpPr>
          <p:cNvPr id="33" name="final-evaluation">
            <a:extLst xmlns:a="http://schemas.openxmlformats.org/drawingml/2006/main">
              <a:ext uri="{FF2B5EF4-FFF2-40B4-BE49-F238E27FC236}">
                <a16:creationId xmlns:a16="http://schemas.microsoft.com/office/drawing/2014/main" id="{63D080D0-1F89-4EA8-A38F-08434C33CF78}"/>
              </a:ext>
            </a:extLst>
          </p:cNvPr>
          <p:cNvSpPr>
            <a:spLocks xmlns:a="http://schemas.openxmlformats.org/drawingml/2006/main" noGrp="1"/>
          </p:cNvSpPr>
          <p:nvPr/>
        </p:nvSpPr>
        <p:spPr>
          <a:xfrm xmlns:a="http://schemas.openxmlformats.org/drawingml/2006/main">
            <a:off x="9829800" y="4667250"/>
            <a:ext cx="1962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E45756"/>
                </a:solidFill>
                <a:latin typeface="Arial"/>
                <a:ea typeface="Arial"/>
                <a:cs typeface="Arial"/>
              </a:defRPr>
            </a:pPr>
            <a:r>
              <a:rPr sz="1350" b="1">
                <a:solidFill>
                  <a:srgbClr val="E45756"/>
                </a:solidFill>
                <a:latin typeface="Arial"/>
                <a:ea typeface="Arial"/>
                <a:cs typeface="Arial"/>
              </a:rPr>
              <a:t>One final evaluation</a:t>
            </a:r>
          </a:p>
        </p:txBody>
      </p:sp>
    </p:spTree>
    <p:extLst>
      <p:ext uri="{BB962C8B-B14F-4D97-AF65-F5344CB8AC3E}">
        <p14:creationId xmlns:p14="http://schemas.microsoft.com/office/powerpoint/2010/main" val="16241045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4">
            <a:extLst xmlns:a="http://schemas.openxmlformats.org/drawingml/2006/main">
              <a:ext uri="{FF2B5EF4-FFF2-40B4-BE49-F238E27FC236}">
                <a16:creationId xmlns:a16="http://schemas.microsoft.com/office/drawing/2014/main" id="{09BEEDC0-0CD2-4D7A-B06E-9AB7BC2E1F4F}"/>
              </a:ext>
            </a:extLst>
          </p:cNvPr>
          <p:cNvSpPr>
            <a:spLocks xmlns:a="http://schemas.openxmlformats.org/drawingml/2006/main" noGrp="1"/>
          </p:cNvSpPr>
          <p:nvPr/>
        </p:nvSpPr>
        <p:spPr>
          <a:xfrm xmlns:a="http://schemas.openxmlformats.org/drawingml/2006/main">
            <a:off x="514350" y="3238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2925" b="1">
                <a:solidFill>
                  <a:srgbClr val="000000"/>
                </a:solidFill>
                <a:latin typeface="Arial"/>
                <a:ea typeface="Arial"/>
                <a:cs typeface="Arial"/>
              </a:defRPr>
            </a:pPr>
            <a:r>
              <a:rPr sz="2925" b="1">
                <a:solidFill>
                  <a:srgbClr val="000000"/>
                </a:solidFill>
                <a:latin typeface="Arial"/>
                <a:ea typeface="Arial"/>
                <a:cs typeface="Arial"/>
              </a:rPr>
              <a:t>Forty-one features summarize player behavior</a:t>
            </a:r>
          </a:p>
        </p:txBody>
      </p:sp>
      <p:sp>
        <p:nvSpPr>
          <p:cNvPr id="2" name="slide-number-4">
            <a:extLst xmlns:a="http://schemas.openxmlformats.org/drawingml/2006/main">
              <a:ext uri="{FF2B5EF4-FFF2-40B4-BE49-F238E27FC236}">
                <a16:creationId xmlns:a16="http://schemas.microsoft.com/office/drawing/2014/main" id="{2CF5C184-A65A-4DF9-8F8E-B1767D868D56}"/>
              </a:ext>
            </a:extLst>
          </p:cNvPr>
          <p:cNvSpPr>
            <a:spLocks xmlns:a="http://schemas.openxmlformats.org/drawingml/2006/main" noGrp="1"/>
          </p:cNvSpPr>
          <p:nvPr/>
        </p:nvSpPr>
        <p:spPr>
          <a:xfrm xmlns:a="http://schemas.openxmlformats.org/drawingml/2006/main">
            <a:off x="11353800" y="627697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r">
              <a:defRPr sz="975">
                <a:solidFill>
                  <a:srgbClr val="5F6670"/>
                </a:solidFill>
                <a:latin typeface="Arial"/>
                <a:ea typeface="Arial"/>
                <a:cs typeface="Arial"/>
              </a:defRPr>
            </a:pPr>
            <a:r>
              <a:rPr sz="975">
                <a:solidFill>
                  <a:srgbClr val="5F6670"/>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B4B0E8FE-F898-43A9-93B8-787CE20353CA}"/>
              </a:ext>
            </a:extLst>
          </p:cNvPr>
          <p:cNvSpPr>
            <a:spLocks xmlns:a="http://schemas.openxmlformats.org/drawingml/2006/main" noGrp="1"/>
          </p:cNvSpPr>
          <p:nvPr/>
        </p:nvSpPr>
        <p:spPr>
          <a:xfrm xmlns:a="http://schemas.openxmlformats.org/drawingml/2006/main">
            <a:off x="523875" y="1428750"/>
            <a:ext cx="5095875"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4" name="feature-group-0">
            <a:extLst xmlns:a="http://schemas.openxmlformats.org/drawingml/2006/main">
              <a:ext uri="{FF2B5EF4-FFF2-40B4-BE49-F238E27FC236}">
                <a16:creationId xmlns:a16="http://schemas.microsoft.com/office/drawing/2014/main" id="{04C6FE83-E35F-43B7-A476-DB612B6A91A0}"/>
              </a:ext>
            </a:extLst>
          </p:cNvPr>
          <p:cNvSpPr>
            <a:spLocks xmlns:a="http://schemas.openxmlformats.org/drawingml/2006/main" noGrp="1"/>
          </p:cNvSpPr>
          <p:nvPr/>
        </p:nvSpPr>
        <p:spPr>
          <a:xfrm xmlns:a="http://schemas.openxmlformats.org/drawingml/2006/main">
            <a:off x="790575" y="16383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000000"/>
                </a:solidFill>
                <a:latin typeface="Arial"/>
                <a:ea typeface="Arial"/>
                <a:cs typeface="Arial"/>
              </a:defRPr>
            </a:pPr>
            <a:r>
              <a:rPr sz="1875" b="1">
                <a:solidFill>
                  <a:srgbClr val="000000"/>
                </a:solidFill>
                <a:latin typeface="Arial"/>
                <a:ea typeface="Arial"/>
                <a:cs typeface="Arial"/>
              </a:rPr>
              <a:t>Activity</a:t>
            </a:r>
          </a:p>
        </p:txBody>
      </p:sp>
      <p:sp>
        <p:nvSpPr>
          <p:cNvPr id="5" name="feature-detail-0">
            <a:extLst xmlns:a="http://schemas.openxmlformats.org/drawingml/2006/main">
              <a:ext uri="{FF2B5EF4-FFF2-40B4-BE49-F238E27FC236}">
                <a16:creationId xmlns:a16="http://schemas.microsoft.com/office/drawing/2014/main" id="{9C088580-A231-436F-8D46-CE236301545D}"/>
              </a:ext>
            </a:extLst>
          </p:cNvPr>
          <p:cNvSpPr>
            <a:spLocks xmlns:a="http://schemas.openxmlformats.org/drawingml/2006/main" noGrp="1"/>
          </p:cNvSpPr>
          <p:nvPr/>
        </p:nvSpPr>
        <p:spPr>
          <a:xfrm xmlns:a="http://schemas.openxmlformats.org/drawingml/2006/main">
            <a:off x="790575" y="2152650"/>
            <a:ext cx="4476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350">
                <a:solidFill>
                  <a:srgbClr val="5F6670"/>
                </a:solidFill>
                <a:latin typeface="Arial"/>
                <a:ea typeface="Arial"/>
                <a:cs typeface="Arial"/>
              </a:defRPr>
            </a:pPr>
            <a:r>
              <a:rPr sz="1350">
                <a:solidFill>
                  <a:srgbClr val="5F6670"/>
                </a:solidFill>
                <a:latin typeface="Arial"/>
                <a:ea typeface="Arial"/>
                <a:cs typeface="Arial"/>
              </a:rPr>
              <a:t>Attempts, sessions, active days, observation span</a:t>
            </a:r>
          </a:p>
        </p:txBody>
      </p:sp>
      <p:sp>
        <p:nvSpPr>
          <p:cNvPr id="6" name="">
            <a:extLst xmlns:a="http://schemas.openxmlformats.org/drawingml/2006/main">
              <a:ext uri="{FF2B5EF4-FFF2-40B4-BE49-F238E27FC236}">
                <a16:creationId xmlns:a16="http://schemas.microsoft.com/office/drawing/2014/main" id="{0B0B98A5-6318-467D-98C4-8FDAC3AF41F2}"/>
              </a:ext>
            </a:extLst>
          </p:cNvPr>
          <p:cNvSpPr>
            <a:spLocks xmlns:a="http://schemas.openxmlformats.org/drawingml/2006/main" noGrp="1"/>
          </p:cNvSpPr>
          <p:nvPr/>
        </p:nvSpPr>
        <p:spPr>
          <a:xfrm xmlns:a="http://schemas.openxmlformats.org/drawingml/2006/main">
            <a:off x="6191250" y="1428750"/>
            <a:ext cx="5095875"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eature-group-1">
            <a:extLst xmlns:a="http://schemas.openxmlformats.org/drawingml/2006/main">
              <a:ext uri="{FF2B5EF4-FFF2-40B4-BE49-F238E27FC236}">
                <a16:creationId xmlns:a16="http://schemas.microsoft.com/office/drawing/2014/main" id="{B6A2BF54-560C-4223-A904-533F7C34F592}"/>
              </a:ext>
            </a:extLst>
          </p:cNvPr>
          <p:cNvSpPr>
            <a:spLocks xmlns:a="http://schemas.openxmlformats.org/drawingml/2006/main" noGrp="1"/>
          </p:cNvSpPr>
          <p:nvPr/>
        </p:nvSpPr>
        <p:spPr>
          <a:xfrm xmlns:a="http://schemas.openxmlformats.org/drawingml/2006/main">
            <a:off x="6457950" y="16383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000000"/>
                </a:solidFill>
                <a:latin typeface="Arial"/>
                <a:ea typeface="Arial"/>
                <a:cs typeface="Arial"/>
              </a:defRPr>
            </a:pPr>
            <a:r>
              <a:rPr sz="1875" b="1">
                <a:solidFill>
                  <a:srgbClr val="000000"/>
                </a:solidFill>
                <a:latin typeface="Arial"/>
                <a:ea typeface="Arial"/>
                <a:cs typeface="Arial"/>
              </a:rPr>
              <a:t>Progress</a:t>
            </a:r>
          </a:p>
        </p:txBody>
      </p:sp>
      <p:sp>
        <p:nvSpPr>
          <p:cNvPr id="8" name="feature-detail-1">
            <a:extLst xmlns:a="http://schemas.openxmlformats.org/drawingml/2006/main">
              <a:ext uri="{FF2B5EF4-FFF2-40B4-BE49-F238E27FC236}">
                <a16:creationId xmlns:a16="http://schemas.microsoft.com/office/drawing/2014/main" id="{C21840BC-2E79-4F4B-8E61-F771BEA439AD}"/>
              </a:ext>
            </a:extLst>
          </p:cNvPr>
          <p:cNvSpPr>
            <a:spLocks xmlns:a="http://schemas.openxmlformats.org/drawingml/2006/main" noGrp="1"/>
          </p:cNvSpPr>
          <p:nvPr/>
        </p:nvSpPr>
        <p:spPr>
          <a:xfrm xmlns:a="http://schemas.openxmlformats.org/drawingml/2006/main">
            <a:off x="6457950" y="2152650"/>
            <a:ext cx="4476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350">
                <a:solidFill>
                  <a:srgbClr val="5F6670"/>
                </a:solidFill>
                <a:latin typeface="Arial"/>
                <a:ea typeface="Arial"/>
                <a:cs typeface="Arial"/>
              </a:defRPr>
            </a:pPr>
            <a:r>
              <a:rPr sz="1350">
                <a:solidFill>
                  <a:srgbClr val="5F6670"/>
                </a:solidFill>
                <a:latin typeface="Arial"/>
                <a:ea typeface="Arial"/>
                <a:cs typeface="Arial"/>
              </a:rPr>
              <a:t>Maximum level, unique levels, recent mean level</a:t>
            </a:r>
          </a:p>
        </p:txBody>
      </p:sp>
      <p:sp>
        <p:nvSpPr>
          <p:cNvPr id="9" name="">
            <a:extLst xmlns:a="http://schemas.openxmlformats.org/drawingml/2006/main">
              <a:ext uri="{FF2B5EF4-FFF2-40B4-BE49-F238E27FC236}">
                <a16:creationId xmlns:a16="http://schemas.microsoft.com/office/drawing/2014/main" id="{C399EB76-6C6B-48FB-96E2-70184273A844}"/>
              </a:ext>
            </a:extLst>
          </p:cNvPr>
          <p:cNvSpPr>
            <a:spLocks xmlns:a="http://schemas.openxmlformats.org/drawingml/2006/main" noGrp="1"/>
          </p:cNvSpPr>
          <p:nvPr/>
        </p:nvSpPr>
        <p:spPr>
          <a:xfrm xmlns:a="http://schemas.openxmlformats.org/drawingml/2006/main">
            <a:off x="523875" y="3571875"/>
            <a:ext cx="5095875"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feature-group-2">
            <a:extLst xmlns:a="http://schemas.openxmlformats.org/drawingml/2006/main">
              <a:ext uri="{FF2B5EF4-FFF2-40B4-BE49-F238E27FC236}">
                <a16:creationId xmlns:a16="http://schemas.microsoft.com/office/drawing/2014/main" id="{DA3371C1-1357-4249-8189-FB118ED11FD0}"/>
              </a:ext>
            </a:extLst>
          </p:cNvPr>
          <p:cNvSpPr>
            <a:spLocks xmlns:a="http://schemas.openxmlformats.org/drawingml/2006/main" noGrp="1"/>
          </p:cNvSpPr>
          <p:nvPr/>
        </p:nvSpPr>
        <p:spPr>
          <a:xfrm xmlns:a="http://schemas.openxmlformats.org/drawingml/2006/main">
            <a:off x="790575" y="3781425"/>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000000"/>
                </a:solidFill>
                <a:latin typeface="Arial"/>
                <a:ea typeface="Arial"/>
                <a:cs typeface="Arial"/>
              </a:defRPr>
            </a:pPr>
            <a:r>
              <a:rPr sz="1875" b="1">
                <a:solidFill>
                  <a:srgbClr val="000000"/>
                </a:solidFill>
                <a:latin typeface="Arial"/>
                <a:ea typeface="Arial"/>
                <a:cs typeface="Arial"/>
              </a:rPr>
              <a:t>Performance</a:t>
            </a:r>
          </a:p>
        </p:txBody>
      </p:sp>
      <p:sp>
        <p:nvSpPr>
          <p:cNvPr id="11" name="feature-detail-2">
            <a:extLst xmlns:a="http://schemas.openxmlformats.org/drawingml/2006/main">
              <a:ext uri="{FF2B5EF4-FFF2-40B4-BE49-F238E27FC236}">
                <a16:creationId xmlns:a16="http://schemas.microsoft.com/office/drawing/2014/main" id="{D9604CB2-23A2-42B7-831A-EC8FF11F66F7}"/>
              </a:ext>
            </a:extLst>
          </p:cNvPr>
          <p:cNvSpPr>
            <a:spLocks xmlns:a="http://schemas.openxmlformats.org/drawingml/2006/main" noGrp="1"/>
          </p:cNvSpPr>
          <p:nvPr/>
        </p:nvSpPr>
        <p:spPr>
          <a:xfrm xmlns:a="http://schemas.openxmlformats.org/drawingml/2006/main">
            <a:off x="790575" y="4295775"/>
            <a:ext cx="4476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350">
                <a:solidFill>
                  <a:srgbClr val="5F6670"/>
                </a:solidFill>
                <a:latin typeface="Arial"/>
                <a:ea typeface="Arial"/>
                <a:cs typeface="Arial"/>
              </a:defRPr>
            </a:pPr>
            <a:r>
              <a:rPr sz="1350">
                <a:solidFill>
                  <a:srgbClr val="5F6670"/>
                </a:solidFill>
                <a:latin typeface="Arial"/>
                <a:ea typeface="Arial"/>
                <a:cs typeface="Arial"/>
              </a:rPr>
              <a:t>Success, failure, retries, help use, remaining steps</a:t>
            </a:r>
          </a:p>
        </p:txBody>
      </p:sp>
      <p:sp>
        <p:nvSpPr>
          <p:cNvPr id="12" name="">
            <a:extLst xmlns:a="http://schemas.openxmlformats.org/drawingml/2006/main">
              <a:ext uri="{FF2B5EF4-FFF2-40B4-BE49-F238E27FC236}">
                <a16:creationId xmlns:a16="http://schemas.microsoft.com/office/drawing/2014/main" id="{C556F8DD-1C06-4483-8A37-5DB5D6DB9CB6}"/>
              </a:ext>
            </a:extLst>
          </p:cNvPr>
          <p:cNvSpPr>
            <a:spLocks xmlns:a="http://schemas.openxmlformats.org/drawingml/2006/main" noGrp="1"/>
          </p:cNvSpPr>
          <p:nvPr/>
        </p:nvSpPr>
        <p:spPr>
          <a:xfrm xmlns:a="http://schemas.openxmlformats.org/drawingml/2006/main">
            <a:off x="6191250" y="3571875"/>
            <a:ext cx="5095875"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feature-group-3">
            <a:extLst xmlns:a="http://schemas.openxmlformats.org/drawingml/2006/main">
              <a:ext uri="{FF2B5EF4-FFF2-40B4-BE49-F238E27FC236}">
                <a16:creationId xmlns:a16="http://schemas.microsoft.com/office/drawing/2014/main" id="{C0368FC7-1850-40E4-A85B-E66838CD57EC}"/>
              </a:ext>
            </a:extLst>
          </p:cNvPr>
          <p:cNvSpPr>
            <a:spLocks xmlns:a="http://schemas.openxmlformats.org/drawingml/2006/main" noGrp="1"/>
          </p:cNvSpPr>
          <p:nvPr/>
        </p:nvSpPr>
        <p:spPr>
          <a:xfrm xmlns:a="http://schemas.openxmlformats.org/drawingml/2006/main">
            <a:off x="6457950" y="3781425"/>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000000"/>
                </a:solidFill>
                <a:latin typeface="Arial"/>
                <a:ea typeface="Arial"/>
                <a:cs typeface="Arial"/>
              </a:defRPr>
            </a:pPr>
            <a:r>
              <a:rPr sz="1875" b="1">
                <a:solidFill>
                  <a:srgbClr val="000000"/>
                </a:solidFill>
                <a:latin typeface="Arial"/>
                <a:ea typeface="Arial"/>
                <a:cs typeface="Arial"/>
              </a:rPr>
              <a:t>Time + difficulty</a:t>
            </a:r>
          </a:p>
        </p:txBody>
      </p:sp>
      <p:sp>
        <p:nvSpPr>
          <p:cNvPr id="14" name="feature-detail-3">
            <a:extLst xmlns:a="http://schemas.openxmlformats.org/drawingml/2006/main">
              <a:ext uri="{FF2B5EF4-FFF2-40B4-BE49-F238E27FC236}">
                <a16:creationId xmlns:a16="http://schemas.microsoft.com/office/drawing/2014/main" id="{CD92D31F-006F-454B-B4E2-159B0CB12477}"/>
              </a:ext>
            </a:extLst>
          </p:cNvPr>
          <p:cNvSpPr>
            <a:spLocks xmlns:a="http://schemas.openxmlformats.org/drawingml/2006/main" noGrp="1"/>
          </p:cNvSpPr>
          <p:nvPr/>
        </p:nvSpPr>
        <p:spPr>
          <a:xfrm xmlns:a="http://schemas.openxmlformats.org/drawingml/2006/main">
            <a:off x="6457950" y="4295775"/>
            <a:ext cx="4476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350">
                <a:solidFill>
                  <a:srgbClr val="5F6670"/>
                </a:solidFill>
                <a:latin typeface="Arial"/>
                <a:ea typeface="Arial"/>
                <a:cs typeface="Arial"/>
              </a:defRPr>
            </a:pPr>
            <a:r>
              <a:rPr sz="1350">
                <a:solidFill>
                  <a:srgbClr val="5F6670"/>
                </a:solidFill>
                <a:latin typeface="Arial"/>
                <a:ea typeface="Arial"/>
                <a:cs typeface="Arial"/>
              </a:rPr>
              <a:t>Recency, weekend/night share, duration, pass rate</a:t>
            </a:r>
          </a:p>
        </p:txBody>
      </p:sp>
      <p:sp>
        <p:nvSpPr>
          <p:cNvPr id="15" name="model-list">
            <a:extLst xmlns:a="http://schemas.openxmlformats.org/drawingml/2006/main">
              <a:ext uri="{FF2B5EF4-FFF2-40B4-BE49-F238E27FC236}">
                <a16:creationId xmlns:a16="http://schemas.microsoft.com/office/drawing/2014/main" id="{341A39B7-B509-49ED-A9B9-594D69F36F48}"/>
              </a:ext>
            </a:extLst>
          </p:cNvPr>
          <p:cNvSpPr>
            <a:spLocks xmlns:a="http://schemas.openxmlformats.org/drawingml/2006/main" noGrp="1"/>
          </p:cNvSpPr>
          <p:nvPr/>
        </p:nvSpPr>
        <p:spPr>
          <a:xfrm xmlns:a="http://schemas.openxmlformats.org/drawingml/2006/main">
            <a:off x="523875" y="5715000"/>
            <a:ext cx="1076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00000"/>
                </a:solidFill>
                <a:latin typeface="Arial"/>
                <a:ea typeface="Arial"/>
                <a:cs typeface="Arial"/>
              </a:defRPr>
            </a:pPr>
            <a:r>
              <a:rPr sz="1500" b="1">
                <a:solidFill>
                  <a:srgbClr val="000000"/>
                </a:solidFill>
                <a:latin typeface="Arial"/>
                <a:ea typeface="Arial"/>
                <a:cs typeface="Arial"/>
              </a:rPr>
              <a:t>Compared models: Logistic Regression • Random Forest • Histogram Gradient Boosting • XGBoost</a:t>
            </a:r>
          </a:p>
        </p:txBody>
      </p:sp>
    </p:spTree>
    <p:extLst>
      <p:ext uri="{BB962C8B-B14F-4D97-AF65-F5344CB8AC3E}">
        <p14:creationId xmlns:p14="http://schemas.microsoft.com/office/powerpoint/2010/main" val="17585113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5">
            <a:extLst xmlns:a="http://schemas.openxmlformats.org/drawingml/2006/main">
              <a:ext uri="{FF2B5EF4-FFF2-40B4-BE49-F238E27FC236}">
                <a16:creationId xmlns:a16="http://schemas.microsoft.com/office/drawing/2014/main" id="{CBE7B872-DE4F-44F3-A697-7D8843FEEC0C}"/>
              </a:ext>
            </a:extLst>
          </p:cNvPr>
          <p:cNvSpPr>
            <a:spLocks xmlns:a="http://schemas.openxmlformats.org/drawingml/2006/main" noGrp="1"/>
          </p:cNvSpPr>
          <p:nvPr/>
        </p:nvSpPr>
        <p:spPr>
          <a:xfrm xmlns:a="http://schemas.openxmlformats.org/drawingml/2006/main">
            <a:off x="514350" y="3238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2925" b="1">
                <a:solidFill>
                  <a:srgbClr val="000000"/>
                </a:solidFill>
                <a:latin typeface="Arial"/>
                <a:ea typeface="Arial"/>
                <a:cs typeface="Arial"/>
              </a:defRPr>
            </a:pPr>
            <a:r>
              <a:rPr sz="2925" b="1">
                <a:solidFill>
                  <a:srgbClr val="000000"/>
                </a:solidFill>
                <a:latin typeface="Arial"/>
                <a:ea typeface="Arial"/>
                <a:cs typeface="Arial"/>
              </a:rPr>
              <a:t>Random Forest wins a close four-model comparison</a:t>
            </a:r>
          </a:p>
        </p:txBody>
      </p:sp>
      <p:sp>
        <p:nvSpPr>
          <p:cNvPr id="2" name="slide-number-5">
            <a:extLst xmlns:a="http://schemas.openxmlformats.org/drawingml/2006/main">
              <a:ext uri="{FF2B5EF4-FFF2-40B4-BE49-F238E27FC236}">
                <a16:creationId xmlns:a16="http://schemas.microsoft.com/office/drawing/2014/main" id="{B26A3FED-72AE-4955-B5A6-FC2A028F1BA5}"/>
              </a:ext>
            </a:extLst>
          </p:cNvPr>
          <p:cNvSpPr>
            <a:spLocks xmlns:a="http://schemas.openxmlformats.org/drawingml/2006/main" noGrp="1"/>
          </p:cNvSpPr>
          <p:nvPr/>
        </p:nvSpPr>
        <p:spPr>
          <a:xfrm xmlns:a="http://schemas.openxmlformats.org/drawingml/2006/main">
            <a:off x="11353800" y="627697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r">
              <a:defRPr sz="975">
                <a:solidFill>
                  <a:srgbClr val="5F6670"/>
                </a:solidFill>
                <a:latin typeface="Arial"/>
                <a:ea typeface="Arial"/>
                <a:cs typeface="Arial"/>
              </a:defRPr>
            </a:pPr>
            <a:r>
              <a:rPr sz="975">
                <a:solidFill>
                  <a:srgbClr val="5F6670"/>
                </a:solidFill>
                <a:latin typeface="Arial"/>
                <a:ea typeface="Arial"/>
                <a:cs typeface="Arial"/>
              </a:rPr>
              <a:t>5</a:t>
            </a:r>
          </a:p>
        </p:txBody>
      </p:sp>
      <p:graphicFrame>
        <p:nvGraphicFramePr>
          <p:cNvPr id="11" name="Chart"/>
          <p:cNvGraphicFramePr/>
          <p:nvPr/>
        </p:nvGraphicFramePr>
        <p:xfrm>
          <a:off xmlns:a="http://schemas.openxmlformats.org/drawingml/2006/main" x="523875" y="1381125"/>
          <a:ext xmlns:a="http://schemas.openxmlformats.org/drawingml/2006/main" cx="7381875" cy="4619625"/>
        </p:xfrm>
        <a:graphic xmlns:a="http://schemas.openxmlformats.org/drawingml/2006/main">
          <a:graphicData uri="http://schemas.openxmlformats.org/drawingml/2006/chart">
            <c:chart xmlns:r="http://schemas.openxmlformats.org/officeDocument/2006/relationships" xmlns:c="http://schemas.openxmlformats.org/drawingml/2006/chart" r:id="R61f7619936fe4c25"/>
          </a:graphicData>
        </a:graphic>
      </p:graphicFrame>
      <p:sp>
        <p:nvSpPr>
          <p:cNvPr id="4" name="">
            <a:extLst xmlns:a="http://schemas.openxmlformats.org/drawingml/2006/main">
              <a:ext uri="{FF2B5EF4-FFF2-40B4-BE49-F238E27FC236}">
                <a16:creationId xmlns:a16="http://schemas.microsoft.com/office/drawing/2014/main" id="{E4DFD759-D31C-4315-9B22-F910710EEC7E}"/>
              </a:ext>
            </a:extLst>
          </p:cNvPr>
          <p:cNvSpPr>
            <a:spLocks xmlns:a="http://schemas.openxmlformats.org/drawingml/2006/main" noGrp="1"/>
          </p:cNvSpPr>
          <p:nvPr/>
        </p:nvSpPr>
        <p:spPr>
          <a:xfrm xmlns:a="http://schemas.openxmlformats.org/drawingml/2006/main">
            <a:off x="8334375" y="1476375"/>
            <a:ext cx="2952750" cy="41910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selection-rule">
            <a:extLst xmlns:a="http://schemas.openxmlformats.org/drawingml/2006/main">
              <a:ext uri="{FF2B5EF4-FFF2-40B4-BE49-F238E27FC236}">
                <a16:creationId xmlns:a16="http://schemas.microsoft.com/office/drawing/2014/main" id="{ADDE8B41-EFBC-483E-B53F-A104F02113D6}"/>
              </a:ext>
            </a:extLst>
          </p:cNvPr>
          <p:cNvSpPr>
            <a:spLocks xmlns:a="http://schemas.openxmlformats.org/drawingml/2006/main" noGrp="1"/>
          </p:cNvSpPr>
          <p:nvPr/>
        </p:nvSpPr>
        <p:spPr>
          <a:xfrm xmlns:a="http://schemas.openxmlformats.org/drawingml/2006/main">
            <a:off x="8667750" y="1809750"/>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5F6670"/>
                </a:solidFill>
                <a:latin typeface="Arial"/>
                <a:ea typeface="Arial"/>
                <a:cs typeface="Arial"/>
              </a:defRPr>
            </a:pPr>
            <a:r>
              <a:rPr sz="1500" b="1">
                <a:solidFill>
                  <a:srgbClr val="5F6670"/>
                </a:solidFill>
                <a:latin typeface="Arial"/>
                <a:ea typeface="Arial"/>
                <a:cs typeface="Arial"/>
              </a:rPr>
              <a:t>Selection rule</a:t>
            </a:r>
          </a:p>
        </p:txBody>
      </p:sp>
      <p:sp>
        <p:nvSpPr>
          <p:cNvPr id="6" name="cv-score">
            <a:extLst xmlns:a="http://schemas.openxmlformats.org/drawingml/2006/main">
              <a:ext uri="{FF2B5EF4-FFF2-40B4-BE49-F238E27FC236}">
                <a16:creationId xmlns:a16="http://schemas.microsoft.com/office/drawing/2014/main" id="{D5D6A05A-0D5F-4446-BAA2-EC11BDCF8F04}"/>
              </a:ext>
            </a:extLst>
          </p:cNvPr>
          <p:cNvSpPr>
            <a:spLocks xmlns:a="http://schemas.openxmlformats.org/drawingml/2006/main" noGrp="1"/>
          </p:cNvSpPr>
          <p:nvPr/>
        </p:nvSpPr>
        <p:spPr>
          <a:xfrm xmlns:a="http://schemas.openxmlformats.org/drawingml/2006/main">
            <a:off x="8667750" y="2305050"/>
            <a:ext cx="228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3750" b="1">
                <a:solidFill>
                  <a:srgbClr val="3D8DFF"/>
                </a:solidFill>
                <a:latin typeface="Arial"/>
                <a:ea typeface="Arial"/>
                <a:cs typeface="Arial"/>
              </a:defRPr>
            </a:pPr>
            <a:r>
              <a:rPr sz="3750" b="1">
                <a:solidFill>
                  <a:srgbClr val="3D8DFF"/>
                </a:solidFill>
                <a:latin typeface="Arial"/>
                <a:ea typeface="Arial"/>
                <a:cs typeface="Arial"/>
              </a:rPr>
              <a:t>0.8067</a:t>
            </a:r>
          </a:p>
        </p:txBody>
      </p:sp>
      <p:sp>
        <p:nvSpPr>
          <p:cNvPr id="7" name="cv-label">
            <a:extLst xmlns:a="http://schemas.openxmlformats.org/drawingml/2006/main">
              <a:ext uri="{FF2B5EF4-FFF2-40B4-BE49-F238E27FC236}">
                <a16:creationId xmlns:a16="http://schemas.microsoft.com/office/drawing/2014/main" id="{2095F3E9-C86C-4661-BA44-C5E5CD73E969}"/>
              </a:ext>
            </a:extLst>
          </p:cNvPr>
          <p:cNvSpPr>
            <a:spLocks xmlns:a="http://schemas.openxmlformats.org/drawingml/2006/main" noGrp="1"/>
          </p:cNvSpPr>
          <p:nvPr/>
        </p:nvSpPr>
        <p:spPr>
          <a:xfrm xmlns:a="http://schemas.openxmlformats.org/drawingml/2006/main">
            <a:off x="8667750" y="3048000"/>
            <a:ext cx="228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650" b="1">
                <a:solidFill>
                  <a:srgbClr val="000000"/>
                </a:solidFill>
                <a:latin typeface="Arial"/>
                <a:ea typeface="Arial"/>
                <a:cs typeface="Arial"/>
              </a:defRPr>
            </a:pPr>
            <a:r>
              <a:rPr sz="1650" b="1">
                <a:solidFill>
                  <a:srgbClr val="000000"/>
                </a:solidFill>
                <a:latin typeface="Arial"/>
                <a:ea typeface="Arial"/>
                <a:cs typeface="Arial"/>
              </a:rPr>
              <a:t>Random Forest</a:t>
            </a:r>
          </a:p>
          <a:p xmlns:a="http://schemas.openxmlformats.org/drawingml/2006/main">
            <a:pPr>
              <a:defRPr sz="1650" b="1">
                <a:solidFill>
                  <a:srgbClr val="000000"/>
                </a:solidFill>
                <a:latin typeface="Arial"/>
                <a:ea typeface="Arial"/>
                <a:cs typeface="Arial"/>
              </a:defRPr>
            </a:pPr>
            <a:r>
              <a:rPr sz="1650" b="1">
                <a:solidFill>
                  <a:srgbClr val="000000"/>
                </a:solidFill>
                <a:latin typeface="Arial"/>
                <a:ea typeface="Arial"/>
                <a:cs typeface="Arial"/>
              </a:rPr>
              <a:t>5-fold CV AUROC</a:t>
            </a:r>
          </a:p>
        </p:txBody>
      </p:sp>
      <p:sp>
        <p:nvSpPr>
          <p:cNvPr id="8" name="holdout-note">
            <a:extLst xmlns:a="http://schemas.openxmlformats.org/drawingml/2006/main">
              <a:ext uri="{FF2B5EF4-FFF2-40B4-BE49-F238E27FC236}">
                <a16:creationId xmlns:a16="http://schemas.microsoft.com/office/drawing/2014/main" id="{EDA3A9A5-65B5-4BB3-B6E4-C7C4A19E7445}"/>
              </a:ext>
            </a:extLst>
          </p:cNvPr>
          <p:cNvSpPr>
            <a:spLocks xmlns:a="http://schemas.openxmlformats.org/drawingml/2006/main" noGrp="1"/>
          </p:cNvSpPr>
          <p:nvPr/>
        </p:nvSpPr>
        <p:spPr>
          <a:xfrm xmlns:a="http://schemas.openxmlformats.org/drawingml/2006/main">
            <a:off x="8667750" y="4095750"/>
            <a:ext cx="2286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809"/>
          </a:bodyPr>
          <a:lstStyle xmlns:a="http://schemas.openxmlformats.org/drawingml/2006/main"/>
          <a:p xmlns:a="http://schemas.openxmlformats.org/drawingml/2006/main">
            <a:pPr>
              <a:defRPr sz="1275">
                <a:solidFill>
                  <a:srgbClr val="5F6670"/>
                </a:solidFill>
                <a:latin typeface="Arial"/>
                <a:ea typeface="Arial"/>
                <a:cs typeface="Arial"/>
              </a:defRPr>
            </a:pPr>
            <a:r>
              <a:rPr sz="1275">
                <a:solidFill>
                  <a:srgbClr val="5F6670"/>
                </a:solidFill>
                <a:latin typeface="Arial"/>
                <a:ea typeface="Arial"/>
                <a:cs typeface="Arial"/>
              </a:rPr>
              <a:t>Why not Logistic Regression?</a:t>
            </a:r>
          </a:p>
          <a:p xmlns:a="http://schemas.openxmlformats.org/drawingml/2006/main">
            <a:pPr>
              <a:defRPr sz="1275">
                <a:solidFill>
                  <a:srgbClr val="5F6670"/>
                </a:solidFill>
                <a:latin typeface="Arial"/>
                <a:ea typeface="Arial"/>
                <a:cs typeface="Arial"/>
              </a:defRPr>
            </a:pPr>
            <a:r>
              <a:rPr sz="1275">
                <a:solidFill>
                  <a:srgbClr val="5F6670"/>
                </a:solidFill>
                <a:latin typeface="Arial"/>
                <a:ea typeface="Arial"/>
                <a:cs typeface="Arial"/>
              </a:rPr>
              <a:t>It had slightly higher dev AUROC, but the holdout cannot be used to change the selected model.</a:t>
            </a:r>
          </a:p>
        </p:txBody>
      </p:sp>
    </p:spTree>
    <p:extLst>
      <p:ext uri="{BB962C8B-B14F-4D97-AF65-F5344CB8AC3E}">
        <p14:creationId xmlns:p14="http://schemas.microsoft.com/office/powerpoint/2010/main" val="17292177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itle-6">
            <a:extLst xmlns:a="http://schemas.openxmlformats.org/drawingml/2006/main">
              <a:ext uri="{FF2B5EF4-FFF2-40B4-BE49-F238E27FC236}">
                <a16:creationId xmlns:a16="http://schemas.microsoft.com/office/drawing/2014/main" id="{AB6EA84C-2901-4354-ADA2-1EE269073F96}"/>
              </a:ext>
            </a:extLst>
          </p:cNvPr>
          <p:cNvSpPr>
            <a:spLocks xmlns:a="http://schemas.openxmlformats.org/drawingml/2006/main" noGrp="1"/>
          </p:cNvSpPr>
          <p:nvPr/>
        </p:nvSpPr>
        <p:spPr>
          <a:xfrm xmlns:a="http://schemas.openxmlformats.org/drawingml/2006/main">
            <a:off x="514350" y="3238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2925" b="1">
                <a:solidFill>
                  <a:srgbClr val="000000"/>
                </a:solidFill>
                <a:latin typeface="Arial"/>
                <a:ea typeface="Arial"/>
                <a:cs typeface="Arial"/>
              </a:defRPr>
            </a:pPr>
            <a:r>
              <a:rPr sz="2925" b="1">
                <a:solidFill>
                  <a:srgbClr val="000000"/>
                </a:solidFill>
                <a:latin typeface="Arial"/>
                <a:ea typeface="Arial"/>
                <a:cs typeface="Arial"/>
              </a:rPr>
              <a:t>The final model catches 78% of churners</a:t>
            </a:r>
          </a:p>
        </p:txBody>
      </p:sp>
      <p:sp>
        <p:nvSpPr>
          <p:cNvPr id="2" name="slide-number-6">
            <a:extLst xmlns:a="http://schemas.openxmlformats.org/drawingml/2006/main">
              <a:ext uri="{FF2B5EF4-FFF2-40B4-BE49-F238E27FC236}">
                <a16:creationId xmlns:a16="http://schemas.microsoft.com/office/drawing/2014/main" id="{452A805A-B0C5-43EE-9755-06C88A9053F1}"/>
              </a:ext>
            </a:extLst>
          </p:cNvPr>
          <p:cNvSpPr>
            <a:spLocks xmlns:a="http://schemas.openxmlformats.org/drawingml/2006/main" noGrp="1"/>
          </p:cNvSpPr>
          <p:nvPr/>
        </p:nvSpPr>
        <p:spPr>
          <a:xfrm xmlns:a="http://schemas.openxmlformats.org/drawingml/2006/main">
            <a:off x="11353800" y="627697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r">
              <a:defRPr sz="975">
                <a:solidFill>
                  <a:srgbClr val="5F6670"/>
                </a:solidFill>
                <a:latin typeface="Arial"/>
                <a:ea typeface="Arial"/>
                <a:cs typeface="Arial"/>
              </a:defRPr>
            </a:pPr>
            <a:r>
              <a:rPr sz="975">
                <a:solidFill>
                  <a:srgbClr val="5F6670"/>
                </a:solidFill>
                <a:latin typeface="Arial"/>
                <a:ea typeface="Arial"/>
                <a:cs typeface="Arial"/>
              </a:rPr>
              <a:t>6</a:t>
            </a:r>
          </a:p>
        </p:txBody>
      </p:sp>
      <p:sp>
        <p:nvSpPr>
          <p:cNvPr id="3" name="">
            <a:extLst xmlns:a="http://schemas.openxmlformats.org/drawingml/2006/main">
              <a:ext uri="{FF2B5EF4-FFF2-40B4-BE49-F238E27FC236}">
                <a16:creationId xmlns:a16="http://schemas.microsoft.com/office/drawing/2014/main" id="{40C9147A-4C1D-4E32-BB6D-0B2D2E169773}"/>
              </a:ext>
            </a:extLst>
          </p:cNvPr>
          <p:cNvSpPr>
            <a:spLocks xmlns:a="http://schemas.openxmlformats.org/drawingml/2006/main" noGrp="1"/>
          </p:cNvSpPr>
          <p:nvPr/>
        </p:nvSpPr>
        <p:spPr>
          <a:xfrm xmlns:a="http://schemas.openxmlformats.org/drawingml/2006/main">
            <a:off x="523875" y="1381125"/>
            <a:ext cx="2238375" cy="14668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76748CE-F314-42FF-85D3-59F7A279156F}"/>
              </a:ext>
            </a:extLst>
          </p:cNvPr>
          <p:cNvSpPr>
            <a:spLocks xmlns:a="http://schemas.openxmlformats.org/drawingml/2006/main" noGrp="1"/>
          </p:cNvSpPr>
          <p:nvPr/>
        </p:nvSpPr>
        <p:spPr>
          <a:xfrm xmlns:a="http://schemas.openxmlformats.org/drawingml/2006/main">
            <a:off x="523875" y="1381125"/>
            <a:ext cx="95250" cy="14668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5" name="metric-AUROC">
            <a:extLst xmlns:a="http://schemas.openxmlformats.org/drawingml/2006/main">
              <a:ext uri="{FF2B5EF4-FFF2-40B4-BE49-F238E27FC236}">
                <a16:creationId xmlns:a16="http://schemas.microsoft.com/office/drawing/2014/main" id="{5F596E3D-8979-40DD-A42E-A5C495861EF7}"/>
              </a:ext>
            </a:extLst>
          </p:cNvPr>
          <p:cNvSpPr>
            <a:spLocks xmlns:a="http://schemas.openxmlformats.org/drawingml/2006/main" noGrp="1"/>
          </p:cNvSpPr>
          <p:nvPr/>
        </p:nvSpPr>
        <p:spPr>
          <a:xfrm xmlns:a="http://schemas.openxmlformats.org/drawingml/2006/main">
            <a:off x="771525" y="1571625"/>
            <a:ext cx="18192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3600" b="1">
                <a:solidFill>
                  <a:srgbClr val="000000"/>
                </a:solidFill>
                <a:latin typeface="Arial"/>
                <a:ea typeface="Arial"/>
                <a:cs typeface="Arial"/>
              </a:defRPr>
            </a:pPr>
            <a:r>
              <a:rPr sz="3600" b="1">
                <a:solidFill>
                  <a:srgbClr val="000000"/>
                </a:solidFill>
                <a:latin typeface="Arial"/>
                <a:ea typeface="Arial"/>
                <a:cs typeface="Arial"/>
              </a:rPr>
              <a:t>0.802</a:t>
            </a:r>
          </a:p>
        </p:txBody>
      </p:sp>
      <p:sp>
        <p:nvSpPr>
          <p:cNvPr id="6" name="metric-label-AUROC">
            <a:extLst xmlns:a="http://schemas.openxmlformats.org/drawingml/2006/main">
              <a:ext uri="{FF2B5EF4-FFF2-40B4-BE49-F238E27FC236}">
                <a16:creationId xmlns:a16="http://schemas.microsoft.com/office/drawing/2014/main" id="{E5370ACB-2AE3-4BA3-8A5E-EC4EA573FCBF}"/>
              </a:ext>
            </a:extLst>
          </p:cNvPr>
          <p:cNvSpPr>
            <a:spLocks xmlns:a="http://schemas.openxmlformats.org/drawingml/2006/main" noGrp="1"/>
          </p:cNvSpPr>
          <p:nvPr/>
        </p:nvSpPr>
        <p:spPr>
          <a:xfrm xmlns:a="http://schemas.openxmlformats.org/drawingml/2006/main">
            <a:off x="771525" y="2238375"/>
            <a:ext cx="18192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350">
                <a:solidFill>
                  <a:srgbClr val="5F6670"/>
                </a:solidFill>
                <a:latin typeface="Arial"/>
                <a:ea typeface="Arial"/>
                <a:cs typeface="Arial"/>
              </a:defRPr>
            </a:pPr>
            <a:r>
              <a:rPr sz="1350">
                <a:solidFill>
                  <a:srgbClr val="5F6670"/>
                </a:solidFill>
                <a:latin typeface="Arial"/>
                <a:ea typeface="Arial"/>
                <a:cs typeface="Arial"/>
              </a:rPr>
              <a:t>AUROC</a:t>
            </a:r>
          </a:p>
        </p:txBody>
      </p:sp>
      <p:sp>
        <p:nvSpPr>
          <p:cNvPr id="7" name="">
            <a:extLst xmlns:a="http://schemas.openxmlformats.org/drawingml/2006/main">
              <a:ext uri="{FF2B5EF4-FFF2-40B4-BE49-F238E27FC236}">
                <a16:creationId xmlns:a16="http://schemas.microsoft.com/office/drawing/2014/main" id="{C27284D9-2F21-47C5-A1D8-DEB98BABA7B2}"/>
              </a:ext>
            </a:extLst>
          </p:cNvPr>
          <p:cNvSpPr>
            <a:spLocks xmlns:a="http://schemas.openxmlformats.org/drawingml/2006/main" noGrp="1"/>
          </p:cNvSpPr>
          <p:nvPr/>
        </p:nvSpPr>
        <p:spPr>
          <a:xfrm xmlns:a="http://schemas.openxmlformats.org/drawingml/2006/main">
            <a:off x="3000375" y="1381125"/>
            <a:ext cx="2238375" cy="14668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28D09D0-E730-4AE7-B6AA-8DE0C74EA11F}"/>
              </a:ext>
            </a:extLst>
          </p:cNvPr>
          <p:cNvSpPr>
            <a:spLocks xmlns:a="http://schemas.openxmlformats.org/drawingml/2006/main" noGrp="1"/>
          </p:cNvSpPr>
          <p:nvPr/>
        </p:nvSpPr>
        <p:spPr>
          <a:xfrm xmlns:a="http://schemas.openxmlformats.org/drawingml/2006/main">
            <a:off x="3000375" y="1381125"/>
            <a:ext cx="95250" cy="14668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9" name="metric-Precision">
            <a:extLst xmlns:a="http://schemas.openxmlformats.org/drawingml/2006/main">
              <a:ext uri="{FF2B5EF4-FFF2-40B4-BE49-F238E27FC236}">
                <a16:creationId xmlns:a16="http://schemas.microsoft.com/office/drawing/2014/main" id="{81ED3798-C0E3-4608-8EBC-8C1E953A1649}"/>
              </a:ext>
            </a:extLst>
          </p:cNvPr>
          <p:cNvSpPr>
            <a:spLocks xmlns:a="http://schemas.openxmlformats.org/drawingml/2006/main" noGrp="1"/>
          </p:cNvSpPr>
          <p:nvPr/>
        </p:nvSpPr>
        <p:spPr>
          <a:xfrm xmlns:a="http://schemas.openxmlformats.org/drawingml/2006/main">
            <a:off x="3248025" y="1571625"/>
            <a:ext cx="18192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3600" b="1">
                <a:solidFill>
                  <a:srgbClr val="000000"/>
                </a:solidFill>
                <a:latin typeface="Arial"/>
                <a:ea typeface="Arial"/>
                <a:cs typeface="Arial"/>
              </a:defRPr>
            </a:pPr>
            <a:r>
              <a:rPr sz="3600" b="1">
                <a:solidFill>
                  <a:srgbClr val="000000"/>
                </a:solidFill>
                <a:latin typeface="Arial"/>
                <a:ea typeface="Arial"/>
                <a:cs typeface="Arial"/>
              </a:rPr>
              <a:t>0.579</a:t>
            </a:r>
          </a:p>
        </p:txBody>
      </p:sp>
      <p:sp>
        <p:nvSpPr>
          <p:cNvPr id="10" name="metric-label-Precision">
            <a:extLst xmlns:a="http://schemas.openxmlformats.org/drawingml/2006/main">
              <a:ext uri="{FF2B5EF4-FFF2-40B4-BE49-F238E27FC236}">
                <a16:creationId xmlns:a16="http://schemas.microsoft.com/office/drawing/2014/main" id="{4F42E312-E21A-440F-AE37-1C772128BDE6}"/>
              </a:ext>
            </a:extLst>
          </p:cNvPr>
          <p:cNvSpPr>
            <a:spLocks xmlns:a="http://schemas.openxmlformats.org/drawingml/2006/main" noGrp="1"/>
          </p:cNvSpPr>
          <p:nvPr/>
        </p:nvSpPr>
        <p:spPr>
          <a:xfrm xmlns:a="http://schemas.openxmlformats.org/drawingml/2006/main">
            <a:off x="3248025" y="2238375"/>
            <a:ext cx="18192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350">
                <a:solidFill>
                  <a:srgbClr val="5F6670"/>
                </a:solidFill>
                <a:latin typeface="Arial"/>
                <a:ea typeface="Arial"/>
                <a:cs typeface="Arial"/>
              </a:defRPr>
            </a:pPr>
            <a:r>
              <a:rPr sz="1350">
                <a:solidFill>
                  <a:srgbClr val="5F6670"/>
                </a:solidFill>
                <a:latin typeface="Arial"/>
                <a:ea typeface="Arial"/>
                <a:cs typeface="Arial"/>
              </a:rPr>
              <a:t>Precision</a:t>
            </a:r>
          </a:p>
        </p:txBody>
      </p:sp>
      <p:sp>
        <p:nvSpPr>
          <p:cNvPr id="11" name="">
            <a:extLst xmlns:a="http://schemas.openxmlformats.org/drawingml/2006/main">
              <a:ext uri="{FF2B5EF4-FFF2-40B4-BE49-F238E27FC236}">
                <a16:creationId xmlns:a16="http://schemas.microsoft.com/office/drawing/2014/main" id="{3B13D518-4B57-440C-B576-2D954F04534E}"/>
              </a:ext>
            </a:extLst>
          </p:cNvPr>
          <p:cNvSpPr>
            <a:spLocks xmlns:a="http://schemas.openxmlformats.org/drawingml/2006/main" noGrp="1"/>
          </p:cNvSpPr>
          <p:nvPr/>
        </p:nvSpPr>
        <p:spPr>
          <a:xfrm xmlns:a="http://schemas.openxmlformats.org/drawingml/2006/main">
            <a:off x="5476875" y="1381125"/>
            <a:ext cx="2238375" cy="14668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3A47B7D-A2BF-4EAC-B82A-566BF0DD9EB1}"/>
              </a:ext>
            </a:extLst>
          </p:cNvPr>
          <p:cNvSpPr>
            <a:spLocks xmlns:a="http://schemas.openxmlformats.org/drawingml/2006/main" noGrp="1"/>
          </p:cNvSpPr>
          <p:nvPr/>
        </p:nvSpPr>
        <p:spPr>
          <a:xfrm xmlns:a="http://schemas.openxmlformats.org/drawingml/2006/main">
            <a:off x="5476875" y="1381125"/>
            <a:ext cx="95250" cy="1466850"/>
          </a:xfrm>
          <a:prstGeom xmlns:a="http://schemas.openxmlformats.org/drawingml/2006/main" prst="rect">
            <a:avLst/>
          </a:prstGeom>
          <a:solidFill xmlns:a="http://schemas.openxmlformats.org/drawingml/2006/main">
            <a:srgbClr val="8CC8A8"/>
          </a:solidFill>
          <a:ln xmlns:a="http://schemas.openxmlformats.org/drawingml/2006/main" w="0">
            <a:noFill/>
            <a:prstDash val="solid"/>
          </a:ln>
        </p:spPr>
      </p:sp>
      <p:sp>
        <p:nvSpPr>
          <p:cNvPr id="13" name="metric-Recall">
            <a:extLst xmlns:a="http://schemas.openxmlformats.org/drawingml/2006/main">
              <a:ext uri="{FF2B5EF4-FFF2-40B4-BE49-F238E27FC236}">
                <a16:creationId xmlns:a16="http://schemas.microsoft.com/office/drawing/2014/main" id="{606EB77F-C1A5-400D-8DE5-27B96625AF21}"/>
              </a:ext>
            </a:extLst>
          </p:cNvPr>
          <p:cNvSpPr>
            <a:spLocks xmlns:a="http://schemas.openxmlformats.org/drawingml/2006/main" noGrp="1"/>
          </p:cNvSpPr>
          <p:nvPr/>
        </p:nvSpPr>
        <p:spPr>
          <a:xfrm xmlns:a="http://schemas.openxmlformats.org/drawingml/2006/main">
            <a:off x="5724525" y="1571625"/>
            <a:ext cx="18192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3600" b="1">
                <a:solidFill>
                  <a:srgbClr val="000000"/>
                </a:solidFill>
                <a:latin typeface="Arial"/>
                <a:ea typeface="Arial"/>
                <a:cs typeface="Arial"/>
              </a:defRPr>
            </a:pPr>
            <a:r>
              <a:rPr sz="3600" b="1">
                <a:solidFill>
                  <a:srgbClr val="000000"/>
                </a:solidFill>
                <a:latin typeface="Arial"/>
                <a:ea typeface="Arial"/>
                <a:cs typeface="Arial"/>
              </a:rPr>
              <a:t>0.781</a:t>
            </a:r>
          </a:p>
        </p:txBody>
      </p:sp>
      <p:sp>
        <p:nvSpPr>
          <p:cNvPr id="14" name="metric-label-Recall">
            <a:extLst xmlns:a="http://schemas.openxmlformats.org/drawingml/2006/main">
              <a:ext uri="{FF2B5EF4-FFF2-40B4-BE49-F238E27FC236}">
                <a16:creationId xmlns:a16="http://schemas.microsoft.com/office/drawing/2014/main" id="{F921A3F0-8AFF-4B6D-80C1-0414669042EE}"/>
              </a:ext>
            </a:extLst>
          </p:cNvPr>
          <p:cNvSpPr>
            <a:spLocks xmlns:a="http://schemas.openxmlformats.org/drawingml/2006/main" noGrp="1"/>
          </p:cNvSpPr>
          <p:nvPr/>
        </p:nvSpPr>
        <p:spPr>
          <a:xfrm xmlns:a="http://schemas.openxmlformats.org/drawingml/2006/main">
            <a:off x="5724525" y="2238375"/>
            <a:ext cx="18192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350">
                <a:solidFill>
                  <a:srgbClr val="5F6670"/>
                </a:solidFill>
                <a:latin typeface="Arial"/>
                <a:ea typeface="Arial"/>
                <a:cs typeface="Arial"/>
              </a:defRPr>
            </a:pPr>
            <a:r>
              <a:rPr sz="1350">
                <a:solidFill>
                  <a:srgbClr val="5F6670"/>
                </a:solidFill>
                <a:latin typeface="Arial"/>
                <a:ea typeface="Arial"/>
                <a:cs typeface="Arial"/>
              </a:rPr>
              <a:t>Recall</a:t>
            </a:r>
          </a:p>
        </p:txBody>
      </p:sp>
      <p:sp>
        <p:nvSpPr>
          <p:cNvPr id="15" name="">
            <a:extLst xmlns:a="http://schemas.openxmlformats.org/drawingml/2006/main">
              <a:ext uri="{FF2B5EF4-FFF2-40B4-BE49-F238E27FC236}">
                <a16:creationId xmlns:a16="http://schemas.microsoft.com/office/drawing/2014/main" id="{EFEC8E79-3527-4C75-89D8-EF02AF0C4D41}"/>
              </a:ext>
            </a:extLst>
          </p:cNvPr>
          <p:cNvSpPr>
            <a:spLocks xmlns:a="http://schemas.openxmlformats.org/drawingml/2006/main" noGrp="1"/>
          </p:cNvSpPr>
          <p:nvPr/>
        </p:nvSpPr>
        <p:spPr>
          <a:xfrm xmlns:a="http://schemas.openxmlformats.org/drawingml/2006/main">
            <a:off x="7953375" y="1381125"/>
            <a:ext cx="2238375" cy="14668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7D88D22-1CE6-4F29-8C85-741BCF3A3EFD}"/>
              </a:ext>
            </a:extLst>
          </p:cNvPr>
          <p:cNvSpPr>
            <a:spLocks xmlns:a="http://schemas.openxmlformats.org/drawingml/2006/main" noGrp="1"/>
          </p:cNvSpPr>
          <p:nvPr/>
        </p:nvSpPr>
        <p:spPr>
          <a:xfrm xmlns:a="http://schemas.openxmlformats.org/drawingml/2006/main">
            <a:off x="7953375" y="1381125"/>
            <a:ext cx="95250" cy="1466850"/>
          </a:xfrm>
          <a:prstGeom xmlns:a="http://schemas.openxmlformats.org/drawingml/2006/main" prst="rect">
            <a:avLst/>
          </a:prstGeom>
          <a:solidFill xmlns:a="http://schemas.openxmlformats.org/drawingml/2006/main">
            <a:srgbClr val="A68AC7"/>
          </a:solidFill>
          <a:ln xmlns:a="http://schemas.openxmlformats.org/drawingml/2006/main" w="0">
            <a:noFill/>
            <a:prstDash val="solid"/>
          </a:ln>
        </p:spPr>
      </p:sp>
      <p:sp>
        <p:nvSpPr>
          <p:cNvPr id="17" name="metric-F1-score">
            <a:extLst xmlns:a="http://schemas.openxmlformats.org/drawingml/2006/main">
              <a:ext uri="{FF2B5EF4-FFF2-40B4-BE49-F238E27FC236}">
                <a16:creationId xmlns:a16="http://schemas.microsoft.com/office/drawing/2014/main" id="{ECF762A9-A54C-47DE-89C2-628299716C0C}"/>
              </a:ext>
            </a:extLst>
          </p:cNvPr>
          <p:cNvSpPr>
            <a:spLocks xmlns:a="http://schemas.openxmlformats.org/drawingml/2006/main" noGrp="1"/>
          </p:cNvSpPr>
          <p:nvPr/>
        </p:nvSpPr>
        <p:spPr>
          <a:xfrm xmlns:a="http://schemas.openxmlformats.org/drawingml/2006/main">
            <a:off x="8201025" y="1571625"/>
            <a:ext cx="18192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3600" b="1">
                <a:solidFill>
                  <a:srgbClr val="000000"/>
                </a:solidFill>
                <a:latin typeface="Arial"/>
                <a:ea typeface="Arial"/>
                <a:cs typeface="Arial"/>
              </a:defRPr>
            </a:pPr>
            <a:r>
              <a:rPr sz="3600" b="1">
                <a:solidFill>
                  <a:srgbClr val="000000"/>
                </a:solidFill>
                <a:latin typeface="Arial"/>
                <a:ea typeface="Arial"/>
                <a:cs typeface="Arial"/>
              </a:rPr>
              <a:t>0.665</a:t>
            </a:r>
          </a:p>
        </p:txBody>
      </p:sp>
      <p:sp>
        <p:nvSpPr>
          <p:cNvPr id="18" name="metric-label-F1-score">
            <a:extLst xmlns:a="http://schemas.openxmlformats.org/drawingml/2006/main">
              <a:ext uri="{FF2B5EF4-FFF2-40B4-BE49-F238E27FC236}">
                <a16:creationId xmlns:a16="http://schemas.microsoft.com/office/drawing/2014/main" id="{CC108616-9D45-427F-B072-04F09545A9A5}"/>
              </a:ext>
            </a:extLst>
          </p:cNvPr>
          <p:cNvSpPr>
            <a:spLocks xmlns:a="http://schemas.openxmlformats.org/drawingml/2006/main" noGrp="1"/>
          </p:cNvSpPr>
          <p:nvPr/>
        </p:nvSpPr>
        <p:spPr>
          <a:xfrm xmlns:a="http://schemas.openxmlformats.org/drawingml/2006/main">
            <a:off x="8201025" y="2238375"/>
            <a:ext cx="18192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350">
                <a:solidFill>
                  <a:srgbClr val="5F6670"/>
                </a:solidFill>
                <a:latin typeface="Arial"/>
                <a:ea typeface="Arial"/>
                <a:cs typeface="Arial"/>
              </a:defRPr>
            </a:pPr>
            <a:r>
              <a:rPr sz="1350">
                <a:solidFill>
                  <a:srgbClr val="5F6670"/>
                </a:solidFill>
                <a:latin typeface="Arial"/>
                <a:ea typeface="Arial"/>
                <a:cs typeface="Arial"/>
              </a:rPr>
              <a:t>F1-score</a:t>
            </a:r>
          </a:p>
        </p:txBody>
      </p:sp>
      <p:sp>
        <p:nvSpPr>
          <p:cNvPr id="19" name="threshold-callout">
            <a:extLst xmlns:a="http://schemas.openxmlformats.org/drawingml/2006/main">
              <a:ext uri="{FF2B5EF4-FFF2-40B4-BE49-F238E27FC236}">
                <a16:creationId xmlns:a16="http://schemas.microsoft.com/office/drawing/2014/main" id="{A9F9115C-73BB-4D03-B4FA-BE031A42AFB1}"/>
              </a:ext>
            </a:extLst>
          </p:cNvPr>
          <p:cNvSpPr>
            <a:spLocks xmlns:a="http://schemas.openxmlformats.org/drawingml/2006/main" noGrp="1"/>
          </p:cNvSpPr>
          <p:nvPr/>
        </p:nvSpPr>
        <p:spPr>
          <a:xfrm xmlns:a="http://schemas.openxmlformats.org/drawingml/2006/main">
            <a:off x="523875" y="316230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000000"/>
                </a:solidFill>
                <a:latin typeface="Arial"/>
                <a:ea typeface="Arial"/>
                <a:cs typeface="Arial"/>
              </a:defRPr>
            </a:pPr>
            <a:r>
              <a:rPr sz="1575" b="1">
                <a:solidFill>
                  <a:srgbClr val="000000"/>
                </a:solidFill>
                <a:latin typeface="Arial"/>
                <a:ea typeface="Arial"/>
                <a:cs typeface="Arial"/>
              </a:rPr>
              <a:t>Threshold 0.320 — chosen from training out-of-fold predictions</a:t>
            </a:r>
          </a:p>
        </p:txBody>
      </p:sp>
      <p:sp>
        <p:nvSpPr>
          <p:cNvPr id="20" name="">
            <a:extLst xmlns:a="http://schemas.openxmlformats.org/drawingml/2006/main">
              <a:ext uri="{FF2B5EF4-FFF2-40B4-BE49-F238E27FC236}">
                <a16:creationId xmlns:a16="http://schemas.microsoft.com/office/drawing/2014/main" id="{EFA1FFE0-B39D-42D3-B0D2-77C6E660D06B}"/>
              </a:ext>
            </a:extLst>
          </p:cNvPr>
          <p:cNvSpPr>
            <a:spLocks xmlns:a="http://schemas.openxmlformats.org/drawingml/2006/main" noGrp="1"/>
          </p:cNvSpPr>
          <p:nvPr/>
        </p:nvSpPr>
        <p:spPr>
          <a:xfrm xmlns:a="http://schemas.openxmlformats.org/drawingml/2006/main">
            <a:off x="714375" y="3924300"/>
            <a:ext cx="95250" cy="95250"/>
          </a:xfrm>
          <a:prstGeom xmlns:a="http://schemas.openxmlformats.org/drawingml/2006/main" prst="ellipse">
            <a:avLst/>
          </a:prstGeom>
          <a:solidFill xmlns:a="http://schemas.openxmlformats.org/drawingml/2006/main">
            <a:srgbClr val="3C8D6B"/>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E1616E84-A53C-4AD4-9662-F4D2661FD331}"/>
              </a:ext>
            </a:extLst>
          </p:cNvPr>
          <p:cNvSpPr>
            <a:spLocks xmlns:a="http://schemas.openxmlformats.org/drawingml/2006/main" noGrp="1"/>
          </p:cNvSpPr>
          <p:nvPr/>
        </p:nvSpPr>
        <p:spPr>
          <a:xfrm xmlns:a="http://schemas.openxmlformats.org/drawingml/2006/main">
            <a:off x="942975" y="3857625"/>
            <a:ext cx="4914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425">
                <a:solidFill>
                  <a:srgbClr val="000000"/>
                </a:solidFill>
                <a:latin typeface="Arial"/>
                <a:ea typeface="Arial"/>
                <a:cs typeface="Arial"/>
              </a:defRPr>
            </a:pPr>
            <a:r>
              <a:rPr sz="1425">
                <a:solidFill>
                  <a:srgbClr val="000000"/>
                </a:solidFill>
                <a:latin typeface="Arial"/>
                <a:ea typeface="Arial"/>
                <a:cs typeface="Arial"/>
              </a:rPr>
              <a:t>704 churners correctly flagged</a:t>
            </a:r>
          </a:p>
        </p:txBody>
      </p:sp>
      <p:sp>
        <p:nvSpPr>
          <p:cNvPr id="22" name="">
            <a:extLst xmlns:a="http://schemas.openxmlformats.org/drawingml/2006/main">
              <a:ext uri="{FF2B5EF4-FFF2-40B4-BE49-F238E27FC236}">
                <a16:creationId xmlns:a16="http://schemas.microsoft.com/office/drawing/2014/main" id="{0399AECD-6A2D-4685-9445-4B410E28FC3F}"/>
              </a:ext>
            </a:extLst>
          </p:cNvPr>
          <p:cNvSpPr>
            <a:spLocks xmlns:a="http://schemas.openxmlformats.org/drawingml/2006/main" noGrp="1"/>
          </p:cNvSpPr>
          <p:nvPr/>
        </p:nvSpPr>
        <p:spPr>
          <a:xfrm xmlns:a="http://schemas.openxmlformats.org/drawingml/2006/main">
            <a:off x="714375" y="4524375"/>
            <a:ext cx="95250" cy="95250"/>
          </a:xfrm>
          <a:prstGeom xmlns:a="http://schemas.openxmlformats.org/drawingml/2006/main" prst="ellipse">
            <a:avLst/>
          </a:prstGeom>
          <a:solidFill xmlns:a="http://schemas.openxmlformats.org/drawingml/2006/main">
            <a:srgbClr val="E45756"/>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F76040DC-EF49-4F9F-A2A1-8D68798F9298}"/>
              </a:ext>
            </a:extLst>
          </p:cNvPr>
          <p:cNvSpPr>
            <a:spLocks xmlns:a="http://schemas.openxmlformats.org/drawingml/2006/main" noGrp="1"/>
          </p:cNvSpPr>
          <p:nvPr/>
        </p:nvSpPr>
        <p:spPr>
          <a:xfrm xmlns:a="http://schemas.openxmlformats.org/drawingml/2006/main">
            <a:off x="942975" y="4457700"/>
            <a:ext cx="4914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425">
                <a:solidFill>
                  <a:srgbClr val="000000"/>
                </a:solidFill>
                <a:latin typeface="Arial"/>
                <a:ea typeface="Arial"/>
                <a:cs typeface="Arial"/>
              </a:defRPr>
            </a:pPr>
            <a:r>
              <a:rPr sz="1425">
                <a:solidFill>
                  <a:srgbClr val="000000"/>
                </a:solidFill>
                <a:latin typeface="Arial"/>
                <a:ea typeface="Arial"/>
                <a:cs typeface="Arial"/>
              </a:rPr>
              <a:t>197 churners missed</a:t>
            </a:r>
          </a:p>
        </p:txBody>
      </p:sp>
      <p:sp>
        <p:nvSpPr>
          <p:cNvPr id="24" name="">
            <a:extLst xmlns:a="http://schemas.openxmlformats.org/drawingml/2006/main">
              <a:ext uri="{FF2B5EF4-FFF2-40B4-BE49-F238E27FC236}">
                <a16:creationId xmlns:a16="http://schemas.microsoft.com/office/drawing/2014/main" id="{E7B9FAAE-67D1-4354-99E7-0870C5342A51}"/>
              </a:ext>
            </a:extLst>
          </p:cNvPr>
          <p:cNvSpPr>
            <a:spLocks xmlns:a="http://schemas.openxmlformats.org/drawingml/2006/main" noGrp="1"/>
          </p:cNvSpPr>
          <p:nvPr/>
        </p:nvSpPr>
        <p:spPr>
          <a:xfrm xmlns:a="http://schemas.openxmlformats.org/drawingml/2006/main">
            <a:off x="714375" y="5124450"/>
            <a:ext cx="95250" cy="95250"/>
          </a:xfrm>
          <a:prstGeom xmlns:a="http://schemas.openxmlformats.org/drawingml/2006/main" prst="ellipse">
            <a:avLst/>
          </a:prstGeom>
          <a:solidFill xmlns:a="http://schemas.openxmlformats.org/drawingml/2006/main">
            <a:srgbClr val="F2A541"/>
          </a:solidFill>
          <a:ln xmlns:a="http://schemas.openxmlformats.org/drawingml/2006/main" w="0">
            <a:noFill/>
            <a:prstDash val="solid"/>
          </a:ln>
        </p:spPr>
      </p:sp>
      <p:sp>
        <p:nvSpPr>
          <p:cNvPr id="25" name="text">
            <a:extLst xmlns:a="http://schemas.openxmlformats.org/drawingml/2006/main">
              <a:ext uri="{FF2B5EF4-FFF2-40B4-BE49-F238E27FC236}">
                <a16:creationId xmlns:a16="http://schemas.microsoft.com/office/drawing/2014/main" id="{1D01BE70-BB71-430C-BCF5-4F50AA3A4747}"/>
              </a:ext>
            </a:extLst>
          </p:cNvPr>
          <p:cNvSpPr>
            <a:spLocks xmlns:a="http://schemas.openxmlformats.org/drawingml/2006/main" noGrp="1"/>
          </p:cNvSpPr>
          <p:nvPr/>
        </p:nvSpPr>
        <p:spPr>
          <a:xfrm xmlns:a="http://schemas.openxmlformats.org/drawingml/2006/main">
            <a:off x="942975" y="5057775"/>
            <a:ext cx="4914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425">
                <a:solidFill>
                  <a:srgbClr val="000000"/>
                </a:solidFill>
                <a:latin typeface="Arial"/>
                <a:ea typeface="Arial"/>
                <a:cs typeface="Arial"/>
              </a:defRPr>
            </a:pPr>
            <a:r>
              <a:rPr sz="1425">
                <a:solidFill>
                  <a:srgbClr val="000000"/>
                </a:solidFill>
                <a:latin typeface="Arial"/>
                <a:ea typeface="Arial"/>
                <a:cs typeface="Arial"/>
              </a:rPr>
              <a:t>512 retained players falsely flagged</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2e7c954f823b4cad"/>
          <a:stretch xmlns:a="http://schemas.openxmlformats.org/drawingml/2006/main"/>
        </p:blipFill>
        <p:spPr>
          <a:xfrm xmlns:a="http://schemas.openxmlformats.org/drawingml/2006/main">
            <a:off x="6921500" y="3048000"/>
            <a:ext cx="4254500" cy="3190875"/>
          </a:xfrm>
          <a:prstGeom xmlns:a="http://schemas.openxmlformats.org/drawingml/2006/main" prst="rect">
            <a:avLst/>
          </a:prstGeom>
        </p:spPr>
      </p:pic>
    </p:spTree>
    <p:extLst>
      <p:ext uri="{BB962C8B-B14F-4D97-AF65-F5344CB8AC3E}">
        <p14:creationId xmlns:p14="http://schemas.microsoft.com/office/powerpoint/2010/main" val="3618588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7">
            <a:extLst xmlns:a="http://schemas.openxmlformats.org/drawingml/2006/main">
              <a:ext uri="{FF2B5EF4-FFF2-40B4-BE49-F238E27FC236}">
                <a16:creationId xmlns:a16="http://schemas.microsoft.com/office/drawing/2014/main" id="{FCA1732D-5DFF-4EE5-828C-9D17F662FA64}"/>
              </a:ext>
            </a:extLst>
          </p:cNvPr>
          <p:cNvSpPr>
            <a:spLocks xmlns:a="http://schemas.openxmlformats.org/drawingml/2006/main" noGrp="1"/>
          </p:cNvSpPr>
          <p:nvPr/>
        </p:nvSpPr>
        <p:spPr>
          <a:xfrm xmlns:a="http://schemas.openxmlformats.org/drawingml/2006/main">
            <a:off x="514350" y="3238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2925" b="1">
                <a:solidFill>
                  <a:srgbClr val="000000"/>
                </a:solidFill>
                <a:latin typeface="Arial"/>
                <a:ea typeface="Arial"/>
                <a:cs typeface="Arial"/>
              </a:defRPr>
            </a:pPr>
            <a:r>
              <a:rPr sz="2925" b="1">
                <a:solidFill>
                  <a:srgbClr val="000000"/>
                </a:solidFill>
                <a:latin typeface="Arial"/>
                <a:ea typeface="Arial"/>
                <a:cs typeface="Arial"/>
              </a:rPr>
              <a:t>Recency and continuity dominate the risk signal</a:t>
            </a:r>
          </a:p>
        </p:txBody>
      </p:sp>
      <p:sp>
        <p:nvSpPr>
          <p:cNvPr id="2" name="slide-number-7">
            <a:extLst xmlns:a="http://schemas.openxmlformats.org/drawingml/2006/main">
              <a:ext uri="{FF2B5EF4-FFF2-40B4-BE49-F238E27FC236}">
                <a16:creationId xmlns:a16="http://schemas.microsoft.com/office/drawing/2014/main" id="{413FF29E-DA09-446D-AE46-E9961C9E0418}"/>
              </a:ext>
            </a:extLst>
          </p:cNvPr>
          <p:cNvSpPr>
            <a:spLocks xmlns:a="http://schemas.openxmlformats.org/drawingml/2006/main" noGrp="1"/>
          </p:cNvSpPr>
          <p:nvPr/>
        </p:nvSpPr>
        <p:spPr>
          <a:xfrm xmlns:a="http://schemas.openxmlformats.org/drawingml/2006/main">
            <a:off x="11353800" y="627697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r">
              <a:defRPr sz="975">
                <a:solidFill>
                  <a:srgbClr val="5F6670"/>
                </a:solidFill>
                <a:latin typeface="Arial"/>
                <a:ea typeface="Arial"/>
                <a:cs typeface="Arial"/>
              </a:defRPr>
            </a:pPr>
            <a:r>
              <a:rPr sz="975">
                <a:solidFill>
                  <a:srgbClr val="5F6670"/>
                </a:solidFill>
                <a:latin typeface="Arial"/>
                <a:ea typeface="Arial"/>
                <a:cs typeface="Arial"/>
              </a:rPr>
              <a:t>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b8d4ce6752b4c80"/>
          <a:stretch xmlns:a="http://schemas.openxmlformats.org/drawingml/2006/main"/>
        </p:blipFill>
        <p:spPr>
          <a:xfrm xmlns:a="http://schemas.openxmlformats.org/drawingml/2006/main">
            <a:off x="1960666" y="1143000"/>
            <a:ext cx="4270168" cy="5095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2AB69F1-1D3C-49EE-A3CF-A603870EB706}"/>
              </a:ext>
            </a:extLst>
          </p:cNvPr>
          <p:cNvSpPr>
            <a:spLocks xmlns:a="http://schemas.openxmlformats.org/drawingml/2006/main" noGrp="1"/>
          </p:cNvSpPr>
          <p:nvPr/>
        </p:nvSpPr>
        <p:spPr>
          <a:xfrm xmlns:a="http://schemas.openxmlformats.org/drawingml/2006/main">
            <a:off x="8191500" y="1428750"/>
            <a:ext cx="3238500" cy="4095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shap-heading">
            <a:extLst xmlns:a="http://schemas.openxmlformats.org/drawingml/2006/main">
              <a:ext uri="{FF2B5EF4-FFF2-40B4-BE49-F238E27FC236}">
                <a16:creationId xmlns:a16="http://schemas.microsoft.com/office/drawing/2014/main" id="{2ADFC86F-5C84-4108-8B3E-5F88685671D7}"/>
              </a:ext>
            </a:extLst>
          </p:cNvPr>
          <p:cNvSpPr>
            <a:spLocks xmlns:a="http://schemas.openxmlformats.org/drawingml/2006/main" noGrp="1"/>
          </p:cNvSpPr>
          <p:nvPr/>
        </p:nvSpPr>
        <p:spPr>
          <a:xfrm xmlns:a="http://schemas.openxmlformats.org/drawingml/2006/main">
            <a:off x="8524875" y="17621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000000"/>
                </a:solidFill>
                <a:latin typeface="Arial"/>
                <a:ea typeface="Arial"/>
                <a:cs typeface="Arial"/>
              </a:defRPr>
            </a:pPr>
            <a:r>
              <a:rPr sz="1725" b="1">
                <a:solidFill>
                  <a:srgbClr val="000000"/>
                </a:solidFill>
                <a:latin typeface="Arial"/>
                <a:ea typeface="Arial"/>
                <a:cs typeface="Arial"/>
              </a:rPr>
              <a:t>Model associations</a:t>
            </a:r>
          </a:p>
        </p:txBody>
      </p:sp>
      <p:sp>
        <p:nvSpPr>
          <p:cNvPr id="6" name="">
            <a:extLst xmlns:a="http://schemas.openxmlformats.org/drawingml/2006/main">
              <a:ext uri="{FF2B5EF4-FFF2-40B4-BE49-F238E27FC236}">
                <a16:creationId xmlns:a16="http://schemas.microsoft.com/office/drawing/2014/main" id="{5612FBE5-1096-4704-A230-66FC9B5A88CA}"/>
              </a:ext>
            </a:extLst>
          </p:cNvPr>
          <p:cNvSpPr>
            <a:spLocks xmlns:a="http://schemas.openxmlformats.org/drawingml/2006/main" noGrp="1"/>
          </p:cNvSpPr>
          <p:nvPr/>
        </p:nvSpPr>
        <p:spPr>
          <a:xfrm xmlns:a="http://schemas.openxmlformats.org/drawingml/2006/main">
            <a:off x="8524875" y="2447925"/>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EC2BF56C-4A44-4F38-9415-14D47E62E751}"/>
              </a:ext>
            </a:extLst>
          </p:cNvPr>
          <p:cNvSpPr>
            <a:spLocks xmlns:a="http://schemas.openxmlformats.org/drawingml/2006/main" noGrp="1"/>
          </p:cNvSpPr>
          <p:nvPr/>
        </p:nvSpPr>
        <p:spPr>
          <a:xfrm xmlns:a="http://schemas.openxmlformats.org/drawingml/2006/main">
            <a:off x="8753475" y="2381250"/>
            <a:ext cx="2343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318"/>
          </a:bodyPr>
          <a:lstStyle xmlns:a="http://schemas.openxmlformats.org/drawingml/2006/main"/>
          <a:p xmlns:a="http://schemas.openxmlformats.org/drawingml/2006/main">
            <a:pPr>
              <a:defRPr sz="1425">
                <a:solidFill>
                  <a:srgbClr val="000000"/>
                </a:solidFill>
                <a:latin typeface="Arial"/>
                <a:ea typeface="Arial"/>
                <a:cs typeface="Arial"/>
              </a:defRPr>
            </a:pPr>
            <a:r>
              <a:rPr sz="1425">
                <a:solidFill>
                  <a:srgbClr val="000000"/>
                </a:solidFill>
                <a:latin typeface="Arial"/>
                <a:ea typeface="Arial"/>
                <a:cs typeface="Arial"/>
              </a:rPr>
              <a:t>Longer time since last activity raises predicted risk</a:t>
            </a:r>
          </a:p>
        </p:txBody>
      </p:sp>
      <p:sp>
        <p:nvSpPr>
          <p:cNvPr id="8" name="">
            <a:extLst xmlns:a="http://schemas.openxmlformats.org/drawingml/2006/main">
              <a:ext uri="{FF2B5EF4-FFF2-40B4-BE49-F238E27FC236}">
                <a16:creationId xmlns:a16="http://schemas.microsoft.com/office/drawing/2014/main" id="{4789060A-0A07-411B-8CF7-F14A08C79294}"/>
              </a:ext>
            </a:extLst>
          </p:cNvPr>
          <p:cNvSpPr>
            <a:spLocks xmlns:a="http://schemas.openxmlformats.org/drawingml/2006/main" noGrp="1"/>
          </p:cNvSpPr>
          <p:nvPr/>
        </p:nvSpPr>
        <p:spPr>
          <a:xfrm xmlns:a="http://schemas.openxmlformats.org/drawingml/2006/main">
            <a:off x="8524875" y="3257550"/>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7B29325B-E6C2-47AA-8815-CE9681253147}"/>
              </a:ext>
            </a:extLst>
          </p:cNvPr>
          <p:cNvSpPr>
            <a:spLocks xmlns:a="http://schemas.openxmlformats.org/drawingml/2006/main" noGrp="1"/>
          </p:cNvSpPr>
          <p:nvPr/>
        </p:nvSpPr>
        <p:spPr>
          <a:xfrm xmlns:a="http://schemas.openxmlformats.org/drawingml/2006/main">
            <a:off x="8753475" y="3190875"/>
            <a:ext cx="2343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808"/>
          </a:bodyPr>
          <a:lstStyle xmlns:a="http://schemas.openxmlformats.org/drawingml/2006/main"/>
          <a:p xmlns:a="http://schemas.openxmlformats.org/drawingml/2006/main">
            <a:pPr>
              <a:defRPr sz="1425">
                <a:solidFill>
                  <a:srgbClr val="000000"/>
                </a:solidFill>
                <a:latin typeface="Arial"/>
                <a:ea typeface="Arial"/>
                <a:cs typeface="Arial"/>
              </a:defRPr>
            </a:pPr>
            <a:r>
              <a:rPr sz="1425">
                <a:solidFill>
                  <a:srgbClr val="000000"/>
                </a:solidFill>
                <a:latin typeface="Arial"/>
                <a:ea typeface="Arial"/>
                <a:cs typeface="Arial"/>
              </a:rPr>
              <a:t>Short observation spans and fewer active days raise risk</a:t>
            </a:r>
          </a:p>
        </p:txBody>
      </p:sp>
      <p:sp>
        <p:nvSpPr>
          <p:cNvPr id="10" name="">
            <a:extLst xmlns:a="http://schemas.openxmlformats.org/drawingml/2006/main">
              <a:ext uri="{FF2B5EF4-FFF2-40B4-BE49-F238E27FC236}">
                <a16:creationId xmlns:a16="http://schemas.microsoft.com/office/drawing/2014/main" id="{F37B1420-596A-4186-BC07-C21687287A0B}"/>
              </a:ext>
            </a:extLst>
          </p:cNvPr>
          <p:cNvSpPr>
            <a:spLocks xmlns:a="http://schemas.openxmlformats.org/drawingml/2006/main" noGrp="1"/>
          </p:cNvSpPr>
          <p:nvPr/>
        </p:nvSpPr>
        <p:spPr>
          <a:xfrm xmlns:a="http://schemas.openxmlformats.org/drawingml/2006/main">
            <a:off x="8524875" y="4210050"/>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6F85A112-6066-4CEC-90C6-EA9097CF4229}"/>
              </a:ext>
            </a:extLst>
          </p:cNvPr>
          <p:cNvSpPr>
            <a:spLocks xmlns:a="http://schemas.openxmlformats.org/drawingml/2006/main" noGrp="1"/>
          </p:cNvSpPr>
          <p:nvPr/>
        </p:nvSpPr>
        <p:spPr>
          <a:xfrm xmlns:a="http://schemas.openxmlformats.org/drawingml/2006/main">
            <a:off x="8753475" y="4143375"/>
            <a:ext cx="2343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808"/>
          </a:bodyPr>
          <a:lstStyle xmlns:a="http://schemas.openxmlformats.org/drawingml/2006/main"/>
          <a:p xmlns:a="http://schemas.openxmlformats.org/drawingml/2006/main">
            <a:pPr>
              <a:defRPr sz="1425">
                <a:solidFill>
                  <a:srgbClr val="000000"/>
                </a:solidFill>
                <a:latin typeface="Arial"/>
                <a:ea typeface="Arial"/>
                <a:cs typeface="Arial"/>
              </a:defRPr>
            </a:pPr>
            <a:r>
              <a:rPr sz="1425">
                <a:solidFill>
                  <a:srgbClr val="000000"/>
                </a:solidFill>
                <a:latin typeface="Arial"/>
                <a:ea typeface="Arial"/>
                <a:cs typeface="Arial"/>
              </a:rPr>
              <a:t>Lower progression and less play time reinforce the signal</a:t>
            </a:r>
          </a:p>
        </p:txBody>
      </p:sp>
      <p:sp>
        <p:nvSpPr>
          <p:cNvPr id="12" name="causation-warning">
            <a:extLst xmlns:a="http://schemas.openxmlformats.org/drawingml/2006/main">
              <a:ext uri="{FF2B5EF4-FFF2-40B4-BE49-F238E27FC236}">
                <a16:creationId xmlns:a16="http://schemas.microsoft.com/office/drawing/2014/main" id="{94F7D798-0797-4F64-BE97-0396B1847DCF}"/>
              </a:ext>
            </a:extLst>
          </p:cNvPr>
          <p:cNvSpPr>
            <a:spLocks xmlns:a="http://schemas.openxmlformats.org/drawingml/2006/main" noGrp="1"/>
          </p:cNvSpPr>
          <p:nvPr/>
        </p:nvSpPr>
        <p:spPr>
          <a:xfrm xmlns:a="http://schemas.openxmlformats.org/drawingml/2006/main">
            <a:off x="8524875" y="51435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E45756"/>
                </a:solidFill>
                <a:latin typeface="Arial"/>
                <a:ea typeface="Arial"/>
                <a:cs typeface="Arial"/>
              </a:defRPr>
            </a:pPr>
            <a:r>
              <a:rPr sz="1350" b="1">
                <a:solidFill>
                  <a:srgbClr val="E45756"/>
                </a:solidFill>
                <a:latin typeface="Arial"/>
                <a:ea typeface="Arial"/>
                <a:cs typeface="Arial"/>
              </a:rPr>
              <a:t>Association ≠ causation</a:t>
            </a:r>
          </a:p>
        </p:txBody>
      </p:sp>
    </p:spTree>
    <p:extLst>
      <p:ext uri="{BB962C8B-B14F-4D97-AF65-F5344CB8AC3E}">
        <p14:creationId xmlns:p14="http://schemas.microsoft.com/office/powerpoint/2010/main" val="13622623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8">
            <a:extLst xmlns:a="http://schemas.openxmlformats.org/drawingml/2006/main">
              <a:ext uri="{FF2B5EF4-FFF2-40B4-BE49-F238E27FC236}">
                <a16:creationId xmlns:a16="http://schemas.microsoft.com/office/drawing/2014/main" id="{760D7870-A29C-4E6F-AD2D-5F8454CA83C4}"/>
              </a:ext>
            </a:extLst>
          </p:cNvPr>
          <p:cNvSpPr>
            <a:spLocks xmlns:a="http://schemas.openxmlformats.org/drawingml/2006/main" noGrp="1"/>
          </p:cNvSpPr>
          <p:nvPr/>
        </p:nvSpPr>
        <p:spPr>
          <a:xfrm xmlns:a="http://schemas.openxmlformats.org/drawingml/2006/main">
            <a:off x="514350" y="3238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2925" b="1">
                <a:solidFill>
                  <a:srgbClr val="000000"/>
                </a:solidFill>
                <a:latin typeface="Arial"/>
                <a:ea typeface="Arial"/>
                <a:cs typeface="Arial"/>
              </a:defRPr>
            </a:pPr>
            <a:r>
              <a:rPr sz="2925" b="1">
                <a:solidFill>
                  <a:srgbClr val="000000"/>
                </a:solidFill>
                <a:latin typeface="Arial"/>
                <a:ea typeface="Arial"/>
                <a:cs typeface="Arial"/>
              </a:rPr>
              <a:t>Useful early warning — not yet deployment proof</a:t>
            </a:r>
          </a:p>
        </p:txBody>
      </p:sp>
      <p:sp>
        <p:nvSpPr>
          <p:cNvPr id="2" name="slide-number-8">
            <a:extLst xmlns:a="http://schemas.openxmlformats.org/drawingml/2006/main">
              <a:ext uri="{FF2B5EF4-FFF2-40B4-BE49-F238E27FC236}">
                <a16:creationId xmlns:a16="http://schemas.microsoft.com/office/drawing/2014/main" id="{7AEEE6CC-CA4D-40FA-A1A4-C2E3CB010C7D}"/>
              </a:ext>
            </a:extLst>
          </p:cNvPr>
          <p:cNvSpPr>
            <a:spLocks xmlns:a="http://schemas.openxmlformats.org/drawingml/2006/main" noGrp="1"/>
          </p:cNvSpPr>
          <p:nvPr/>
        </p:nvSpPr>
        <p:spPr>
          <a:xfrm xmlns:a="http://schemas.openxmlformats.org/drawingml/2006/main">
            <a:off x="11353800" y="627697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r">
              <a:defRPr sz="975">
                <a:solidFill>
                  <a:srgbClr val="5F6670"/>
                </a:solidFill>
                <a:latin typeface="Arial"/>
                <a:ea typeface="Arial"/>
                <a:cs typeface="Arial"/>
              </a:defRPr>
            </a:pPr>
            <a:r>
              <a:rPr sz="975">
                <a:solidFill>
                  <a:srgbClr val="5F6670"/>
                </a:solidFill>
                <a:latin typeface="Arial"/>
                <a:ea typeface="Arial"/>
                <a:cs typeface="Arial"/>
              </a:rPr>
              <a:t>8</a:t>
            </a:r>
          </a:p>
        </p:txBody>
      </p:sp>
      <p:sp>
        <p:nvSpPr>
          <p:cNvPr id="3" name="learned-title">
            <a:extLst xmlns:a="http://schemas.openxmlformats.org/drawingml/2006/main">
              <a:ext uri="{FF2B5EF4-FFF2-40B4-BE49-F238E27FC236}">
                <a16:creationId xmlns:a16="http://schemas.microsoft.com/office/drawing/2014/main" id="{8E2F60ED-F236-499D-94BE-52099A6D0083}"/>
              </a:ext>
            </a:extLst>
          </p:cNvPr>
          <p:cNvSpPr>
            <a:spLocks xmlns:a="http://schemas.openxmlformats.org/drawingml/2006/main" noGrp="1"/>
          </p:cNvSpPr>
          <p:nvPr/>
        </p:nvSpPr>
        <p:spPr>
          <a:xfrm xmlns:a="http://schemas.openxmlformats.org/drawingml/2006/main">
            <a:off x="523875" y="14287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000000"/>
                </a:solidFill>
                <a:latin typeface="Arial"/>
                <a:ea typeface="Arial"/>
                <a:cs typeface="Arial"/>
              </a:defRPr>
            </a:pPr>
            <a:r>
              <a:rPr sz="2100" b="1">
                <a:solidFill>
                  <a:srgbClr val="000000"/>
                </a:solidFill>
                <a:latin typeface="Arial"/>
                <a:ea typeface="Arial"/>
                <a:cs typeface="Arial"/>
              </a:rPr>
              <a:t>What we learned</a:t>
            </a:r>
          </a:p>
        </p:txBody>
      </p:sp>
      <p:sp>
        <p:nvSpPr>
          <p:cNvPr id="4" name="">
            <a:extLst xmlns:a="http://schemas.openxmlformats.org/drawingml/2006/main">
              <a:ext uri="{FF2B5EF4-FFF2-40B4-BE49-F238E27FC236}">
                <a16:creationId xmlns:a16="http://schemas.microsoft.com/office/drawing/2014/main" id="{CDB23B09-2581-4751-AE39-0F3861CBC125}"/>
              </a:ext>
            </a:extLst>
          </p:cNvPr>
          <p:cNvSpPr>
            <a:spLocks xmlns:a="http://schemas.openxmlformats.org/drawingml/2006/main" noGrp="1"/>
          </p:cNvSpPr>
          <p:nvPr/>
        </p:nvSpPr>
        <p:spPr>
          <a:xfrm xmlns:a="http://schemas.openxmlformats.org/drawingml/2006/main">
            <a:off x="666750" y="2162175"/>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5" name="text">
            <a:extLst xmlns:a="http://schemas.openxmlformats.org/drawingml/2006/main">
              <a:ext uri="{FF2B5EF4-FFF2-40B4-BE49-F238E27FC236}">
                <a16:creationId xmlns:a16="http://schemas.microsoft.com/office/drawing/2014/main" id="{39BE9C2B-941C-426B-AE11-0AD8DABCAA13}"/>
              </a:ext>
            </a:extLst>
          </p:cNvPr>
          <p:cNvSpPr>
            <a:spLocks xmlns:a="http://schemas.openxmlformats.org/drawingml/2006/main" noGrp="1"/>
          </p:cNvSpPr>
          <p:nvPr/>
        </p:nvSpPr>
        <p:spPr>
          <a:xfrm xmlns:a="http://schemas.openxmlformats.org/drawingml/2006/main">
            <a:off x="895350" y="2095500"/>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368"/>
          </a:bodyPr>
          <a:lstStyle xmlns:a="http://schemas.openxmlformats.org/drawingml/2006/main"/>
          <a:p xmlns:a="http://schemas.openxmlformats.org/drawingml/2006/main">
            <a:pPr>
              <a:defRPr sz="1425">
                <a:solidFill>
                  <a:srgbClr val="000000"/>
                </a:solidFill>
                <a:latin typeface="Arial"/>
                <a:ea typeface="Arial"/>
                <a:cs typeface="Arial"/>
              </a:defRPr>
            </a:pPr>
            <a:r>
              <a:rPr sz="1425">
                <a:solidFill>
                  <a:srgbClr val="000000"/>
                </a:solidFill>
                <a:latin typeface="Arial"/>
                <a:ea typeface="Arial"/>
                <a:cs typeface="Arial"/>
              </a:rPr>
              <a:t>Early gameplay behavior provides a stable AUROC ≈ 0.80</a:t>
            </a:r>
          </a:p>
        </p:txBody>
      </p:sp>
      <p:sp>
        <p:nvSpPr>
          <p:cNvPr id="6" name="">
            <a:extLst xmlns:a="http://schemas.openxmlformats.org/drawingml/2006/main">
              <a:ext uri="{FF2B5EF4-FFF2-40B4-BE49-F238E27FC236}">
                <a16:creationId xmlns:a16="http://schemas.microsoft.com/office/drawing/2014/main" id="{DA8DE6DB-525F-41F4-A652-7DB92723C54D}"/>
              </a:ext>
            </a:extLst>
          </p:cNvPr>
          <p:cNvSpPr>
            <a:spLocks xmlns:a="http://schemas.openxmlformats.org/drawingml/2006/main" noGrp="1"/>
          </p:cNvSpPr>
          <p:nvPr/>
        </p:nvSpPr>
        <p:spPr>
          <a:xfrm xmlns:a="http://schemas.openxmlformats.org/drawingml/2006/main">
            <a:off x="666750" y="2876550"/>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64EB7FE7-26C8-467C-BC7F-0EC5AE107B7F}"/>
              </a:ext>
            </a:extLst>
          </p:cNvPr>
          <p:cNvSpPr>
            <a:spLocks xmlns:a="http://schemas.openxmlformats.org/drawingml/2006/main" noGrp="1"/>
          </p:cNvSpPr>
          <p:nvPr/>
        </p:nvSpPr>
        <p:spPr>
          <a:xfrm xmlns:a="http://schemas.openxmlformats.org/drawingml/2006/main">
            <a:off x="895350" y="2809875"/>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368"/>
          </a:bodyPr>
          <a:lstStyle xmlns:a="http://schemas.openxmlformats.org/drawingml/2006/main"/>
          <a:p xmlns:a="http://schemas.openxmlformats.org/drawingml/2006/main">
            <a:pPr>
              <a:defRPr sz="1425">
                <a:solidFill>
                  <a:srgbClr val="000000"/>
                </a:solidFill>
                <a:latin typeface="Arial"/>
                <a:ea typeface="Arial"/>
                <a:cs typeface="Arial"/>
              </a:defRPr>
            </a:pPr>
            <a:r>
              <a:rPr sz="1425">
                <a:solidFill>
                  <a:srgbClr val="000000"/>
                </a:solidFill>
                <a:latin typeface="Arial"/>
                <a:ea typeface="Arial"/>
                <a:cs typeface="Arial"/>
              </a:rPr>
              <a:t>Random Forest catches most churners at a training-only threshold</a:t>
            </a:r>
          </a:p>
        </p:txBody>
      </p:sp>
      <p:sp>
        <p:nvSpPr>
          <p:cNvPr id="8" name="">
            <a:extLst xmlns:a="http://schemas.openxmlformats.org/drawingml/2006/main">
              <a:ext uri="{FF2B5EF4-FFF2-40B4-BE49-F238E27FC236}">
                <a16:creationId xmlns:a16="http://schemas.microsoft.com/office/drawing/2014/main" id="{D4BF3288-8F0F-4B64-B3AB-285EBB38E9C8}"/>
              </a:ext>
            </a:extLst>
          </p:cNvPr>
          <p:cNvSpPr>
            <a:spLocks xmlns:a="http://schemas.openxmlformats.org/drawingml/2006/main" noGrp="1"/>
          </p:cNvSpPr>
          <p:nvPr/>
        </p:nvSpPr>
        <p:spPr>
          <a:xfrm xmlns:a="http://schemas.openxmlformats.org/drawingml/2006/main">
            <a:off x="666750" y="3686175"/>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E7B5AA88-2287-4B58-A213-A951E2198724}"/>
              </a:ext>
            </a:extLst>
          </p:cNvPr>
          <p:cNvSpPr>
            <a:spLocks xmlns:a="http://schemas.openxmlformats.org/drawingml/2006/main" noGrp="1"/>
          </p:cNvSpPr>
          <p:nvPr/>
        </p:nvSpPr>
        <p:spPr>
          <a:xfrm xmlns:a="http://schemas.openxmlformats.org/drawingml/2006/main">
            <a:off x="895350" y="3619500"/>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425">
                <a:solidFill>
                  <a:srgbClr val="000000"/>
                </a:solidFill>
                <a:latin typeface="Arial"/>
                <a:ea typeface="Arial"/>
                <a:cs typeface="Arial"/>
              </a:defRPr>
            </a:pPr>
            <a:r>
              <a:rPr sz="1425">
                <a:solidFill>
                  <a:srgbClr val="000000"/>
                </a:solidFill>
                <a:latin typeface="Arial"/>
                <a:ea typeface="Arial"/>
                <a:cs typeface="Arial"/>
              </a:rPr>
              <a:t>Recency, continuity, and progression drive predictions</a:t>
            </a:r>
          </a:p>
        </p:txBody>
      </p:sp>
      <p:sp>
        <p:nvSpPr>
          <p:cNvPr id="10" name="next-title">
            <a:extLst xmlns:a="http://schemas.openxmlformats.org/drawingml/2006/main">
              <a:ext uri="{FF2B5EF4-FFF2-40B4-BE49-F238E27FC236}">
                <a16:creationId xmlns:a16="http://schemas.microsoft.com/office/drawing/2014/main" id="{A53F747D-3167-4335-9885-5CB6DCB0E55D}"/>
              </a:ext>
            </a:extLst>
          </p:cNvPr>
          <p:cNvSpPr>
            <a:spLocks xmlns:a="http://schemas.openxmlformats.org/drawingml/2006/main" noGrp="1"/>
          </p:cNvSpPr>
          <p:nvPr/>
        </p:nvSpPr>
        <p:spPr>
          <a:xfrm xmlns:a="http://schemas.openxmlformats.org/drawingml/2006/main">
            <a:off x="6524625" y="14287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000000"/>
                </a:solidFill>
                <a:latin typeface="Arial"/>
                <a:ea typeface="Arial"/>
                <a:cs typeface="Arial"/>
              </a:defRPr>
            </a:pPr>
            <a:r>
              <a:rPr sz="2100" b="1">
                <a:solidFill>
                  <a:srgbClr val="000000"/>
                </a:solidFill>
                <a:latin typeface="Arial"/>
                <a:ea typeface="Arial"/>
                <a:cs typeface="Arial"/>
              </a:rPr>
              <a:t>What comes next</a:t>
            </a:r>
          </a:p>
        </p:txBody>
      </p:sp>
      <p:sp>
        <p:nvSpPr>
          <p:cNvPr id="11" name="">
            <a:extLst xmlns:a="http://schemas.openxmlformats.org/drawingml/2006/main">
              <a:ext uri="{FF2B5EF4-FFF2-40B4-BE49-F238E27FC236}">
                <a16:creationId xmlns:a16="http://schemas.microsoft.com/office/drawing/2014/main" id="{266B458F-7CB6-477B-BC09-C5CD9A994208}"/>
              </a:ext>
            </a:extLst>
          </p:cNvPr>
          <p:cNvSpPr>
            <a:spLocks xmlns:a="http://schemas.openxmlformats.org/drawingml/2006/main" noGrp="1"/>
          </p:cNvSpPr>
          <p:nvPr/>
        </p:nvSpPr>
        <p:spPr>
          <a:xfrm xmlns:a="http://schemas.openxmlformats.org/drawingml/2006/main">
            <a:off x="6667500" y="2162175"/>
            <a:ext cx="95250" cy="95250"/>
          </a:xfrm>
          <a:prstGeom xmlns:a="http://schemas.openxmlformats.org/drawingml/2006/main" prst="ellipse">
            <a:avLst/>
          </a:prstGeom>
          <a:solidFill xmlns:a="http://schemas.openxmlformats.org/drawingml/2006/main">
            <a:srgbClr val="E4575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AE84791A-3677-4C63-B5EA-1E7D364153D0}"/>
              </a:ext>
            </a:extLst>
          </p:cNvPr>
          <p:cNvSpPr>
            <a:spLocks xmlns:a="http://schemas.openxmlformats.org/drawingml/2006/main" noGrp="1"/>
          </p:cNvSpPr>
          <p:nvPr/>
        </p:nvSpPr>
        <p:spPr>
          <a:xfrm xmlns:a="http://schemas.openxmlformats.org/drawingml/2006/main">
            <a:off x="6896100" y="2095500"/>
            <a:ext cx="4343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425">
                <a:solidFill>
                  <a:srgbClr val="000000"/>
                </a:solidFill>
                <a:latin typeface="Arial"/>
                <a:ea typeface="Arial"/>
                <a:cs typeface="Arial"/>
              </a:defRPr>
            </a:pPr>
            <a:r>
              <a:rPr sz="1425">
                <a:solidFill>
                  <a:srgbClr val="000000"/>
                </a:solidFill>
                <a:latin typeface="Arial"/>
                <a:ea typeface="Arial"/>
                <a:cs typeface="Arial"/>
              </a:rPr>
              <a:t>Validate on a later cohort or a different game</a:t>
            </a:r>
          </a:p>
        </p:txBody>
      </p:sp>
      <p:sp>
        <p:nvSpPr>
          <p:cNvPr id="13" name="">
            <a:extLst xmlns:a="http://schemas.openxmlformats.org/drawingml/2006/main">
              <a:ext uri="{FF2B5EF4-FFF2-40B4-BE49-F238E27FC236}">
                <a16:creationId xmlns:a16="http://schemas.microsoft.com/office/drawing/2014/main" id="{8F2074BA-0E4D-4E7F-AB73-647B95FEE617}"/>
              </a:ext>
            </a:extLst>
          </p:cNvPr>
          <p:cNvSpPr>
            <a:spLocks xmlns:a="http://schemas.openxmlformats.org/drawingml/2006/main" noGrp="1"/>
          </p:cNvSpPr>
          <p:nvPr/>
        </p:nvSpPr>
        <p:spPr>
          <a:xfrm xmlns:a="http://schemas.openxmlformats.org/drawingml/2006/main">
            <a:off x="6667500" y="2876550"/>
            <a:ext cx="95250" cy="95250"/>
          </a:xfrm>
          <a:prstGeom xmlns:a="http://schemas.openxmlformats.org/drawingml/2006/main" prst="ellipse">
            <a:avLst/>
          </a:prstGeom>
          <a:solidFill xmlns:a="http://schemas.openxmlformats.org/drawingml/2006/main">
            <a:srgbClr val="E45756"/>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10008BCE-E0B7-4B4D-8753-74F114833565}"/>
              </a:ext>
            </a:extLst>
          </p:cNvPr>
          <p:cNvSpPr>
            <a:spLocks xmlns:a="http://schemas.openxmlformats.org/drawingml/2006/main" noGrp="1"/>
          </p:cNvSpPr>
          <p:nvPr/>
        </p:nvSpPr>
        <p:spPr>
          <a:xfrm xmlns:a="http://schemas.openxmlformats.org/drawingml/2006/main">
            <a:off x="6896100" y="2809875"/>
            <a:ext cx="4343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425">
                <a:solidFill>
                  <a:srgbClr val="000000"/>
                </a:solidFill>
                <a:latin typeface="Arial"/>
                <a:ea typeface="Arial"/>
                <a:cs typeface="Arial"/>
              </a:defRPr>
            </a:pPr>
            <a:r>
              <a:rPr sz="1425">
                <a:solidFill>
                  <a:srgbClr val="000000"/>
                </a:solidFill>
                <a:latin typeface="Arial"/>
                <a:ea typeface="Arial"/>
                <a:cs typeface="Arial"/>
              </a:rPr>
              <a:t>Monitor probability calibration and behavior drift</a:t>
            </a:r>
          </a:p>
        </p:txBody>
      </p:sp>
      <p:sp>
        <p:nvSpPr>
          <p:cNvPr id="15" name="">
            <a:extLst xmlns:a="http://schemas.openxmlformats.org/drawingml/2006/main">
              <a:ext uri="{FF2B5EF4-FFF2-40B4-BE49-F238E27FC236}">
                <a16:creationId xmlns:a16="http://schemas.microsoft.com/office/drawing/2014/main" id="{C6AA7906-5805-4248-8293-1493418F2172}"/>
              </a:ext>
            </a:extLst>
          </p:cNvPr>
          <p:cNvSpPr>
            <a:spLocks xmlns:a="http://schemas.openxmlformats.org/drawingml/2006/main" noGrp="1"/>
          </p:cNvSpPr>
          <p:nvPr/>
        </p:nvSpPr>
        <p:spPr>
          <a:xfrm xmlns:a="http://schemas.openxmlformats.org/drawingml/2006/main">
            <a:off x="6667500" y="3686175"/>
            <a:ext cx="95250" cy="95250"/>
          </a:xfrm>
          <a:prstGeom xmlns:a="http://schemas.openxmlformats.org/drawingml/2006/main" prst="ellipse">
            <a:avLst/>
          </a:prstGeom>
          <a:solidFill xmlns:a="http://schemas.openxmlformats.org/drawingml/2006/main">
            <a:srgbClr val="E45756"/>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D499FE97-28F7-46C3-B020-83FA1320D566}"/>
              </a:ext>
            </a:extLst>
          </p:cNvPr>
          <p:cNvSpPr>
            <a:spLocks xmlns:a="http://schemas.openxmlformats.org/drawingml/2006/main" noGrp="1"/>
          </p:cNvSpPr>
          <p:nvPr/>
        </p:nvSpPr>
        <p:spPr>
          <a:xfrm xmlns:a="http://schemas.openxmlformats.org/drawingml/2006/main">
            <a:off x="6896100" y="3619500"/>
            <a:ext cx="4343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368"/>
          </a:bodyPr>
          <a:lstStyle xmlns:a="http://schemas.openxmlformats.org/drawingml/2006/main"/>
          <a:p xmlns:a="http://schemas.openxmlformats.org/drawingml/2006/main">
            <a:pPr>
              <a:defRPr sz="1425">
                <a:solidFill>
                  <a:srgbClr val="000000"/>
                </a:solidFill>
                <a:latin typeface="Arial"/>
                <a:ea typeface="Arial"/>
                <a:cs typeface="Arial"/>
              </a:defRPr>
            </a:pPr>
            <a:r>
              <a:rPr sz="1425">
                <a:solidFill>
                  <a:srgbClr val="000000"/>
                </a:solidFill>
                <a:latin typeface="Arial"/>
                <a:ea typeface="Arial"/>
                <a:cs typeface="Arial"/>
              </a:rPr>
              <a:t>Test low-cost interventions with controlled experiments</a:t>
            </a:r>
          </a:p>
        </p:txBody>
      </p:sp>
      <p:sp>
        <p:nvSpPr>
          <p:cNvPr id="17" name="">
            <a:extLst xmlns:a="http://schemas.openxmlformats.org/drawingml/2006/main">
              <a:ext uri="{FF2B5EF4-FFF2-40B4-BE49-F238E27FC236}">
                <a16:creationId xmlns:a16="http://schemas.microsoft.com/office/drawing/2014/main" id="{9600F435-3BAE-43F0-8861-B3E62E05C4A8}"/>
              </a:ext>
            </a:extLst>
          </p:cNvPr>
          <p:cNvSpPr>
            <a:spLocks xmlns:a="http://schemas.openxmlformats.org/drawingml/2006/main" noGrp="1"/>
          </p:cNvSpPr>
          <p:nvPr/>
        </p:nvSpPr>
        <p:spPr>
          <a:xfrm xmlns:a="http://schemas.openxmlformats.org/drawingml/2006/main">
            <a:off x="523875" y="5095875"/>
            <a:ext cx="10763250" cy="762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conclusion">
            <a:extLst xmlns:a="http://schemas.openxmlformats.org/drawingml/2006/main">
              <a:ext uri="{FF2B5EF4-FFF2-40B4-BE49-F238E27FC236}">
                <a16:creationId xmlns:a16="http://schemas.microsoft.com/office/drawing/2014/main" id="{C56A8346-4B1D-42A0-AE72-D0146BA658A9}"/>
              </a:ext>
            </a:extLst>
          </p:cNvPr>
          <p:cNvSpPr>
            <a:spLocks xmlns:a="http://schemas.openxmlformats.org/drawingml/2006/main" noGrp="1"/>
          </p:cNvSpPr>
          <p:nvPr/>
        </p:nvSpPr>
        <p:spPr>
          <a:xfrm xmlns:a="http://schemas.openxmlformats.org/drawingml/2006/main">
            <a:off x="809625" y="5219700"/>
            <a:ext cx="1019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76"/>
          </a:bodyPr>
          <a:lstStyle xmlns:a="http://schemas.openxmlformats.org/drawingml/2006/main"/>
          <a:p xmlns:a="http://schemas.openxmlformats.org/drawingml/2006/main">
            <a:pPr algn="ctr">
              <a:defRPr sz="1725" b="1">
                <a:solidFill>
                  <a:srgbClr val="000000"/>
                </a:solidFill>
                <a:latin typeface="Arial"/>
                <a:ea typeface="Arial"/>
                <a:cs typeface="Arial"/>
              </a:defRPr>
            </a:pPr>
            <a:r>
              <a:rPr sz="1725" b="1">
                <a:solidFill>
                  <a:srgbClr val="000000"/>
                </a:solidFill>
                <a:latin typeface="Arial"/>
                <a:ea typeface="Arial"/>
                <a:cs typeface="Arial"/>
              </a:rPr>
              <a:t>Conclusion: the model is ready for further validation and experimentation, not automatic intervention.</a:t>
            </a:r>
          </a:p>
        </p:txBody>
      </p:sp>
    </p:spTree>
    <p:extLst>
      <p:ext uri="{BB962C8B-B14F-4D97-AF65-F5344CB8AC3E}">
        <p14:creationId xmlns:p14="http://schemas.microsoft.com/office/powerpoint/2010/main" val="17006139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2026-08-18T19:20:45.9970000Z</dcterms:created>
  <dcterms:modified xsi:type="dcterms:W3CDTF">2026-08-18T19:20:45.9970000Z</dcterms:modified>
</coreProperties>
</file>